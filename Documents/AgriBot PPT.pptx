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Oswald Bold" charset="1" panose="00000800000000000000"/>
      <p:regular r:id="rId28"/>
    </p:embeddedFont>
    <p:embeddedFont>
      <p:font typeface="DM Sans" charset="1" panose="00000000000000000000"/>
      <p:regular r:id="rId29"/>
    </p:embeddedFont>
    <p:embeddedFont>
      <p:font typeface="DM Sans Bold" charset="1" panose="00000000000000000000"/>
      <p:regular r:id="rId30"/>
    </p:embeddedFont>
    <p:embeddedFont>
      <p:font typeface="DM Sans Italics" charset="1" panose="00000000000000000000"/>
      <p:regular r:id="rId31"/>
    </p:embeddedFont>
    <p:embeddedFont>
      <p:font typeface="Oswald"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8.jpe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4.jpeg" Type="http://schemas.openxmlformats.org/officeDocument/2006/relationships/image"/><Relationship Id="rId6" Target="../media/image2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6.jpeg" Type="http://schemas.openxmlformats.org/officeDocument/2006/relationships/image"/><Relationship Id="rId6" Target="../media/image2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8.jpe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9.jpe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4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0.png" Type="http://schemas.openxmlformats.org/officeDocument/2006/relationships/image"/><Relationship Id="rId6" Target="../media/image4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7659121">
            <a:off x="15091031" y="5585714"/>
            <a:ext cx="7629294" cy="7828566"/>
          </a:xfrm>
          <a:custGeom>
            <a:avLst/>
            <a:gdLst/>
            <a:ahLst/>
            <a:cxnLst/>
            <a:rect r="r" b="b" t="t" l="l"/>
            <a:pathLst>
              <a:path h="7828566" w="7629294">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8071" y="-4629150"/>
            <a:ext cx="9022634" cy="9258300"/>
          </a:xfrm>
          <a:custGeom>
            <a:avLst/>
            <a:gdLst/>
            <a:ahLst/>
            <a:cxnLst/>
            <a:rect r="r" b="b" t="t" l="l"/>
            <a:pathLst>
              <a:path h="9258300" w="9022634">
                <a:moveTo>
                  <a:pt x="0" y="0"/>
                </a:moveTo>
                <a:lnTo>
                  <a:pt x="9022634" y="0"/>
                </a:lnTo>
                <a:lnTo>
                  <a:pt x="9022634" y="9258300"/>
                </a:lnTo>
                <a:lnTo>
                  <a:pt x="0" y="9258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6787646" y="1562430"/>
            <a:ext cx="4712707" cy="1824435"/>
            <a:chOff x="0" y="0"/>
            <a:chExt cx="910100" cy="352328"/>
          </a:xfrm>
        </p:grpSpPr>
        <p:sp>
          <p:nvSpPr>
            <p:cNvPr name="Freeform 6" id="6"/>
            <p:cNvSpPr/>
            <p:nvPr/>
          </p:nvSpPr>
          <p:spPr>
            <a:xfrm flipH="false" flipV="false" rot="0">
              <a:off x="0" y="0"/>
              <a:ext cx="910100" cy="352328"/>
            </a:xfrm>
            <a:custGeom>
              <a:avLst/>
              <a:gdLst/>
              <a:ahLst/>
              <a:cxnLst/>
              <a:rect r="r" b="b" t="t" l="l"/>
              <a:pathLst>
                <a:path h="352328" w="910100">
                  <a:moveTo>
                    <a:pt x="0" y="0"/>
                  </a:moveTo>
                  <a:lnTo>
                    <a:pt x="910100" y="0"/>
                  </a:lnTo>
                  <a:lnTo>
                    <a:pt x="910100" y="352328"/>
                  </a:lnTo>
                  <a:lnTo>
                    <a:pt x="0" y="352328"/>
                  </a:lnTo>
                  <a:close/>
                </a:path>
              </a:pathLst>
            </a:custGeom>
            <a:solidFill>
              <a:srgbClr val="000000">
                <a:alpha val="0"/>
              </a:srgbClr>
            </a:solidFill>
            <a:ln w="38100" cap="sq">
              <a:solidFill>
                <a:srgbClr val="286F17"/>
              </a:solidFill>
              <a:prstDash val="solid"/>
              <a:miter/>
            </a:ln>
          </p:spPr>
        </p:sp>
        <p:sp>
          <p:nvSpPr>
            <p:cNvPr name="TextBox 7" id="7"/>
            <p:cNvSpPr txBox="true"/>
            <p:nvPr/>
          </p:nvSpPr>
          <p:spPr>
            <a:xfrm>
              <a:off x="0" y="-19050"/>
              <a:ext cx="910100" cy="371378"/>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16028014" y="793833"/>
            <a:ext cx="596933" cy="613568"/>
          </a:xfrm>
          <a:custGeom>
            <a:avLst/>
            <a:gdLst/>
            <a:ahLst/>
            <a:cxnLst/>
            <a:rect r="r" b="b" t="t" l="l"/>
            <a:pathLst>
              <a:path h="613568" w="596933">
                <a:moveTo>
                  <a:pt x="0" y="0"/>
                </a:moveTo>
                <a:lnTo>
                  <a:pt x="596933" y="0"/>
                </a:lnTo>
                <a:lnTo>
                  <a:pt x="596933" y="613568"/>
                </a:lnTo>
                <a:lnTo>
                  <a:pt x="0" y="6135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947744" y="3993460"/>
            <a:ext cx="22538216" cy="2053590"/>
          </a:xfrm>
          <a:prstGeom prst="rect">
            <a:avLst/>
          </a:prstGeom>
        </p:spPr>
        <p:txBody>
          <a:bodyPr anchor="t" rtlCol="false" tIns="0" lIns="0" bIns="0" rIns="0">
            <a:spAutoFit/>
          </a:bodyPr>
          <a:lstStyle/>
          <a:p>
            <a:pPr algn="ctr">
              <a:lnSpc>
                <a:spcPts val="8280"/>
              </a:lnSpc>
            </a:pPr>
            <a:r>
              <a:rPr lang="en-US" b="true" sz="6000" spc="588">
                <a:solidFill>
                  <a:srgbClr val="286F17"/>
                </a:solidFill>
                <a:latin typeface="Oswald Bold"/>
                <a:ea typeface="Oswald Bold"/>
                <a:cs typeface="Oswald Bold"/>
                <a:sym typeface="Oswald Bold"/>
              </a:rPr>
              <a:t>AN INTELLIGENT CHATBOT FOR FARMERS</a:t>
            </a:r>
          </a:p>
          <a:p>
            <a:pPr algn="ctr">
              <a:lnSpc>
                <a:spcPts val="8280"/>
              </a:lnSpc>
            </a:pPr>
            <a:r>
              <a:rPr lang="en-US" b="true" sz="6000" spc="588">
                <a:solidFill>
                  <a:srgbClr val="286F17"/>
                </a:solidFill>
                <a:latin typeface="Oswald Bold"/>
                <a:ea typeface="Oswald Bold"/>
                <a:cs typeface="Oswald Bold"/>
                <a:sym typeface="Oswald Bold"/>
              </a:rPr>
              <a:t> WITH CROP AND DISEASE PREDICTION</a:t>
            </a:r>
          </a:p>
        </p:txBody>
      </p:sp>
      <p:sp>
        <p:nvSpPr>
          <p:cNvPr name="TextBox 10" id="10"/>
          <p:cNvSpPr txBox="true"/>
          <p:nvPr/>
        </p:nvSpPr>
        <p:spPr>
          <a:xfrm rot="0">
            <a:off x="4236347" y="1826724"/>
            <a:ext cx="9815307" cy="1181547"/>
          </a:xfrm>
          <a:prstGeom prst="rect">
            <a:avLst/>
          </a:prstGeom>
        </p:spPr>
        <p:txBody>
          <a:bodyPr anchor="t" rtlCol="false" tIns="0" lIns="0" bIns="0" rIns="0">
            <a:spAutoFit/>
          </a:bodyPr>
          <a:lstStyle/>
          <a:p>
            <a:pPr algn="ctr">
              <a:lnSpc>
                <a:spcPts val="9748"/>
              </a:lnSpc>
            </a:pPr>
            <a:r>
              <a:rPr lang="en-US" b="true" sz="7063" spc="692">
                <a:solidFill>
                  <a:srgbClr val="286F17"/>
                </a:solidFill>
                <a:latin typeface="Oswald Bold"/>
                <a:ea typeface="Oswald Bold"/>
                <a:cs typeface="Oswald Bold"/>
                <a:sym typeface="Oswald Bold"/>
              </a:rPr>
              <a:t>AGRIBOT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3662994" y="337474"/>
            <a:ext cx="4296549" cy="9570246"/>
            <a:chOff x="0" y="0"/>
            <a:chExt cx="1131601" cy="2520559"/>
          </a:xfrm>
        </p:grpSpPr>
        <p:sp>
          <p:nvSpPr>
            <p:cNvPr name="Freeform 4" id="4"/>
            <p:cNvSpPr/>
            <p:nvPr/>
          </p:nvSpPr>
          <p:spPr>
            <a:xfrm flipH="false" flipV="false" rot="0">
              <a:off x="0" y="0"/>
              <a:ext cx="1131601" cy="2520559"/>
            </a:xfrm>
            <a:custGeom>
              <a:avLst/>
              <a:gdLst/>
              <a:ahLst/>
              <a:cxnLst/>
              <a:rect r="r" b="b" t="t" l="l"/>
              <a:pathLst>
                <a:path h="2520559" w="1131601">
                  <a:moveTo>
                    <a:pt x="0" y="0"/>
                  </a:moveTo>
                  <a:lnTo>
                    <a:pt x="1131601" y="0"/>
                  </a:lnTo>
                  <a:lnTo>
                    <a:pt x="1131601" y="2520559"/>
                  </a:lnTo>
                  <a:lnTo>
                    <a:pt x="0" y="2520559"/>
                  </a:lnTo>
                  <a:close/>
                </a:path>
              </a:pathLst>
            </a:custGeom>
            <a:solidFill>
              <a:srgbClr val="CCCCCC"/>
            </a:solidFill>
          </p:spPr>
        </p:sp>
        <p:sp>
          <p:nvSpPr>
            <p:cNvPr name="TextBox 5" id="5"/>
            <p:cNvSpPr txBox="true"/>
            <p:nvPr/>
          </p:nvSpPr>
          <p:spPr>
            <a:xfrm>
              <a:off x="0" y="-19050"/>
              <a:ext cx="1131601" cy="2539609"/>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2142191" y="4828880"/>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sp>
        <p:nvSpPr>
          <p:cNvPr name="Freeform 7" id="7"/>
          <p:cNvSpPr/>
          <p:nvPr/>
        </p:nvSpPr>
        <p:spPr>
          <a:xfrm flipH="false" flipV="false" rot="0">
            <a:off x="11349998" y="1018248"/>
            <a:ext cx="6176060" cy="8208697"/>
          </a:xfrm>
          <a:custGeom>
            <a:avLst/>
            <a:gdLst/>
            <a:ahLst/>
            <a:cxnLst/>
            <a:rect r="r" b="b" t="t" l="l"/>
            <a:pathLst>
              <a:path h="8208697" w="6176060">
                <a:moveTo>
                  <a:pt x="0" y="0"/>
                </a:moveTo>
                <a:lnTo>
                  <a:pt x="6176060" y="0"/>
                </a:lnTo>
                <a:lnTo>
                  <a:pt x="6176060" y="8208697"/>
                </a:lnTo>
                <a:lnTo>
                  <a:pt x="0" y="8208697"/>
                </a:lnTo>
                <a:lnTo>
                  <a:pt x="0" y="0"/>
                </a:lnTo>
                <a:close/>
              </a:path>
            </a:pathLst>
          </a:custGeom>
          <a:blipFill>
            <a:blip r:embed="rId4"/>
            <a:stretch>
              <a:fillRect l="-49746" t="0" r="-49746" b="0"/>
            </a:stretch>
          </a:blipFill>
        </p:spPr>
      </p:sp>
      <p:grpSp>
        <p:nvGrpSpPr>
          <p:cNvPr name="Group 8" id="8"/>
          <p:cNvGrpSpPr/>
          <p:nvPr/>
        </p:nvGrpSpPr>
        <p:grpSpPr>
          <a:xfrm rot="0">
            <a:off x="1028700" y="2952750"/>
            <a:ext cx="15466577" cy="6954969"/>
            <a:chOff x="0" y="0"/>
            <a:chExt cx="5925915" cy="2664750"/>
          </a:xfrm>
        </p:grpSpPr>
        <p:sp>
          <p:nvSpPr>
            <p:cNvPr name="Freeform 9" id="9"/>
            <p:cNvSpPr/>
            <p:nvPr/>
          </p:nvSpPr>
          <p:spPr>
            <a:xfrm flipH="false" flipV="false" rot="0">
              <a:off x="0" y="0"/>
              <a:ext cx="5925915" cy="2664750"/>
            </a:xfrm>
            <a:custGeom>
              <a:avLst/>
              <a:gdLst/>
              <a:ahLst/>
              <a:cxnLst/>
              <a:rect r="r" b="b" t="t" l="l"/>
              <a:pathLst>
                <a:path h="2664750" w="5925915">
                  <a:moveTo>
                    <a:pt x="0" y="0"/>
                  </a:moveTo>
                  <a:lnTo>
                    <a:pt x="5925915" y="0"/>
                  </a:lnTo>
                  <a:lnTo>
                    <a:pt x="5925915" y="2664750"/>
                  </a:lnTo>
                  <a:lnTo>
                    <a:pt x="0" y="2664750"/>
                  </a:lnTo>
                  <a:close/>
                </a:path>
              </a:pathLst>
            </a:custGeom>
            <a:solidFill>
              <a:srgbClr val="EFEFEF"/>
            </a:solidFill>
          </p:spPr>
        </p:sp>
        <p:sp>
          <p:nvSpPr>
            <p:cNvPr name="TextBox 10" id="10"/>
            <p:cNvSpPr txBox="true"/>
            <p:nvPr/>
          </p:nvSpPr>
          <p:spPr>
            <a:xfrm>
              <a:off x="0" y="-19050"/>
              <a:ext cx="5925915" cy="2683800"/>
            </a:xfrm>
            <a:prstGeom prst="rect">
              <a:avLst/>
            </a:prstGeom>
          </p:spPr>
          <p:txBody>
            <a:bodyPr anchor="ctr" rtlCol="false" tIns="50800" lIns="50800" bIns="50800" rIns="50800"/>
            <a:lstStyle/>
            <a:p>
              <a:pPr algn="ctr">
                <a:lnSpc>
                  <a:spcPts val="2859"/>
                </a:lnSpc>
              </a:pPr>
            </a:p>
          </p:txBody>
        </p:sp>
      </p:grpSp>
      <p:sp>
        <p:nvSpPr>
          <p:cNvPr name="TextBox 11" id="11"/>
          <p:cNvSpPr txBox="true"/>
          <p:nvPr/>
        </p:nvSpPr>
        <p:spPr>
          <a:xfrm rot="0">
            <a:off x="2142191" y="888605"/>
            <a:ext cx="7416941" cy="1686342"/>
          </a:xfrm>
          <a:prstGeom prst="rect">
            <a:avLst/>
          </a:prstGeom>
        </p:spPr>
        <p:txBody>
          <a:bodyPr anchor="t" rtlCol="false" tIns="0" lIns="0" bIns="0" rIns="0">
            <a:spAutoFit/>
          </a:bodyPr>
          <a:lstStyle/>
          <a:p>
            <a:pPr algn="l">
              <a:lnSpc>
                <a:spcPts val="13774"/>
              </a:lnSpc>
            </a:pPr>
            <a:r>
              <a:rPr lang="en-US" b="true" sz="9981" spc="978">
                <a:solidFill>
                  <a:srgbClr val="286F17"/>
                </a:solidFill>
                <a:latin typeface="Oswald Bold"/>
                <a:ea typeface="Oswald Bold"/>
                <a:cs typeface="Oswald Bold"/>
                <a:sym typeface="Oswald Bold"/>
              </a:rPr>
              <a:t>ABSTRACT</a:t>
            </a:r>
          </a:p>
        </p:txBody>
      </p:sp>
      <p:sp>
        <p:nvSpPr>
          <p:cNvPr name="TextBox 12" id="12"/>
          <p:cNvSpPr txBox="true"/>
          <p:nvPr/>
        </p:nvSpPr>
        <p:spPr>
          <a:xfrm rot="0">
            <a:off x="1338806" y="3050904"/>
            <a:ext cx="14848943" cy="6693789"/>
          </a:xfrm>
          <a:prstGeom prst="rect">
            <a:avLst/>
          </a:prstGeom>
        </p:spPr>
        <p:txBody>
          <a:bodyPr anchor="t" rtlCol="false" tIns="0" lIns="0" bIns="0" rIns="0">
            <a:spAutoFit/>
          </a:bodyPr>
          <a:lstStyle/>
          <a:p>
            <a:pPr algn="l" marL="561341" indent="-280670" lvl="1">
              <a:lnSpc>
                <a:spcPts val="3588"/>
              </a:lnSpc>
              <a:buFont typeface="Arial"/>
              <a:buChar char="•"/>
            </a:pPr>
            <a:r>
              <a:rPr lang="en-US" sz="2600" spc="254">
                <a:solidFill>
                  <a:srgbClr val="286F17"/>
                </a:solidFill>
                <a:latin typeface="DM Sans"/>
                <a:ea typeface="DM Sans"/>
                <a:cs typeface="DM Sans"/>
                <a:sym typeface="DM Sans"/>
              </a:rPr>
              <a:t>This project aims to develop an AI-powered chatbot designed to assist farmers by providing real-time answers to agricultural queries, recommending crops based on soil parameters, and predicting crop diseases using image analysis. </a:t>
            </a:r>
          </a:p>
          <a:p>
            <a:pPr algn="l" marL="561341" indent="-280670" lvl="1">
              <a:lnSpc>
                <a:spcPts val="3588"/>
              </a:lnSpc>
              <a:buFont typeface="Arial"/>
              <a:buChar char="•"/>
            </a:pPr>
            <a:r>
              <a:rPr lang="en-US" sz="2600" spc="254">
                <a:solidFill>
                  <a:srgbClr val="286F17"/>
                </a:solidFill>
                <a:latin typeface="DM Sans"/>
                <a:ea typeface="DM Sans"/>
                <a:cs typeface="DM Sans"/>
                <a:sym typeface="DM Sans"/>
              </a:rPr>
              <a:t>The chatbot will integrate machine learning algorithms and natural language processing to enable seamless communication between farmers and the system. </a:t>
            </a:r>
          </a:p>
          <a:p>
            <a:pPr algn="l" marL="561341" indent="-280670" lvl="1">
              <a:lnSpc>
                <a:spcPts val="3588"/>
              </a:lnSpc>
              <a:buFont typeface="Arial"/>
              <a:buChar char="•"/>
            </a:pPr>
            <a:r>
              <a:rPr lang="en-US" sz="2600" spc="254">
                <a:solidFill>
                  <a:srgbClr val="286F17"/>
                </a:solidFill>
                <a:latin typeface="DM Sans"/>
                <a:ea typeface="DM Sans"/>
                <a:cs typeface="DM Sans"/>
                <a:sym typeface="DM Sans"/>
              </a:rPr>
              <a:t>Additionally, by leveraging soil data, the chatbot will offer personalized crop recommendations tailored to the specific conditions of the farmer’s land. </a:t>
            </a:r>
          </a:p>
          <a:p>
            <a:pPr algn="l" marL="561341" indent="-280670" lvl="1">
              <a:lnSpc>
                <a:spcPts val="3588"/>
              </a:lnSpc>
              <a:buFont typeface="Arial"/>
              <a:buChar char="•"/>
            </a:pPr>
            <a:r>
              <a:rPr lang="en-US" sz="2600" spc="254">
                <a:solidFill>
                  <a:srgbClr val="286F17"/>
                </a:solidFill>
                <a:latin typeface="DM Sans"/>
                <a:ea typeface="DM Sans"/>
                <a:cs typeface="DM Sans"/>
                <a:sym typeface="DM Sans"/>
              </a:rPr>
              <a:t>The image-based disease prediction module will allow farmers to upload pictures of affected plants, and the system will analyze the images to provide accurate diagnoses and treatment suggestions.</a:t>
            </a:r>
          </a:p>
          <a:p>
            <a:pPr algn="l" marL="561341" indent="-280670" lvl="1">
              <a:lnSpc>
                <a:spcPts val="3588"/>
              </a:lnSpc>
              <a:buFont typeface="Arial"/>
              <a:buChar char="•"/>
            </a:pPr>
            <a:r>
              <a:rPr lang="en-US" sz="2600" spc="254">
                <a:solidFill>
                  <a:srgbClr val="286F17"/>
                </a:solidFill>
                <a:latin typeface="DM Sans"/>
                <a:ea typeface="DM Sans"/>
                <a:cs typeface="DM Sans"/>
                <a:sym typeface="DM Sans"/>
              </a:rPr>
              <a:t> This tool aims to empower farmers with actionable insights, improving their decision-making process and contributing to sustainable agriculture.</a:t>
            </a:r>
          </a:p>
          <a:p>
            <a:pPr algn="l" marL="561341" indent="-280670" lvl="1">
              <a:lnSpc>
                <a:spcPts val="3588"/>
              </a:lnSpc>
              <a:buFont typeface="Arial"/>
              <a:buChar char="•"/>
            </a:pPr>
          </a:p>
        </p:txBody>
      </p:sp>
      <p:sp>
        <p:nvSpPr>
          <p:cNvPr name="Freeform 13" id="13"/>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5307472" y="6672678"/>
            <a:ext cx="7673056" cy="7673056"/>
          </a:xfrm>
          <a:custGeom>
            <a:avLst/>
            <a:gdLst/>
            <a:ahLst/>
            <a:cxnLst/>
            <a:rect r="r" b="b" t="t" l="l"/>
            <a:pathLst>
              <a:path h="7673056" w="7673056">
                <a:moveTo>
                  <a:pt x="0" y="0"/>
                </a:moveTo>
                <a:lnTo>
                  <a:pt x="7673056" y="0"/>
                </a:lnTo>
                <a:lnTo>
                  <a:pt x="7673056" y="7673056"/>
                </a:lnTo>
                <a:lnTo>
                  <a:pt x="0" y="76730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024816" y="5501099"/>
            <a:ext cx="2238367" cy="2238367"/>
          </a:xfrm>
          <a:custGeom>
            <a:avLst/>
            <a:gdLst/>
            <a:ahLst/>
            <a:cxnLst/>
            <a:rect r="r" b="b" t="t" l="l"/>
            <a:pathLst>
              <a:path h="2238367" w="2238367">
                <a:moveTo>
                  <a:pt x="0" y="0"/>
                </a:moveTo>
                <a:lnTo>
                  <a:pt x="2238368" y="0"/>
                </a:lnTo>
                <a:lnTo>
                  <a:pt x="2238368" y="2238367"/>
                </a:lnTo>
                <a:lnTo>
                  <a:pt x="0" y="2238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1"/>
                </a:lnTo>
                <a:lnTo>
                  <a:pt x="0" y="10525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539534" y="7377531"/>
            <a:ext cx="2238367" cy="2238367"/>
          </a:xfrm>
          <a:custGeom>
            <a:avLst/>
            <a:gdLst/>
            <a:ahLst/>
            <a:cxnLst/>
            <a:rect r="r" b="b" t="t" l="l"/>
            <a:pathLst>
              <a:path h="2238367" w="2238367">
                <a:moveTo>
                  <a:pt x="0" y="0"/>
                </a:moveTo>
                <a:lnTo>
                  <a:pt x="2238367" y="0"/>
                </a:lnTo>
                <a:lnTo>
                  <a:pt x="2238367" y="2238368"/>
                </a:lnTo>
                <a:lnTo>
                  <a:pt x="0" y="2238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510099" y="7377531"/>
            <a:ext cx="2238367" cy="2238367"/>
          </a:xfrm>
          <a:custGeom>
            <a:avLst/>
            <a:gdLst/>
            <a:ahLst/>
            <a:cxnLst/>
            <a:rect r="r" b="b" t="t" l="l"/>
            <a:pathLst>
              <a:path h="2238367" w="2238367">
                <a:moveTo>
                  <a:pt x="0" y="0"/>
                </a:moveTo>
                <a:lnTo>
                  <a:pt x="2238367" y="0"/>
                </a:lnTo>
                <a:lnTo>
                  <a:pt x="2238367" y="2238368"/>
                </a:lnTo>
                <a:lnTo>
                  <a:pt x="0" y="2238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2106315" y="7936159"/>
            <a:ext cx="1104804" cy="1121111"/>
          </a:xfrm>
          <a:custGeom>
            <a:avLst/>
            <a:gdLst/>
            <a:ahLst/>
            <a:cxnLst/>
            <a:rect r="r" b="b" t="t" l="l"/>
            <a:pathLst>
              <a:path h="1121111" w="1104804">
                <a:moveTo>
                  <a:pt x="0" y="0"/>
                </a:moveTo>
                <a:lnTo>
                  <a:pt x="1104805" y="0"/>
                </a:lnTo>
                <a:lnTo>
                  <a:pt x="1104805" y="1121111"/>
                </a:lnTo>
                <a:lnTo>
                  <a:pt x="0" y="11211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 id="10"/>
          <p:cNvGrpSpPr/>
          <p:nvPr/>
        </p:nvGrpSpPr>
        <p:grpSpPr>
          <a:xfrm rot="0">
            <a:off x="1774426" y="3206190"/>
            <a:ext cx="3474003" cy="647719"/>
            <a:chOff x="0" y="0"/>
            <a:chExt cx="914964" cy="170593"/>
          </a:xfrm>
        </p:grpSpPr>
        <p:sp>
          <p:nvSpPr>
            <p:cNvPr name="Freeform 11" id="11"/>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286F17"/>
            </a:solidFill>
          </p:spPr>
        </p:sp>
        <p:sp>
          <p:nvSpPr>
            <p:cNvPr name="TextBox 12" id="12"/>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b="true" sz="2981" spc="29">
                  <a:solidFill>
                    <a:srgbClr val="FFFFFF"/>
                  </a:solidFill>
                  <a:latin typeface="DM Sans Bold"/>
                  <a:ea typeface="DM Sans Bold"/>
                  <a:cs typeface="DM Sans Bold"/>
                  <a:sym typeface="DM Sans Bold"/>
                </a:rPr>
                <a:t>Objective n° 1</a:t>
              </a:r>
            </a:p>
          </p:txBody>
        </p:sp>
      </p:grpSp>
      <p:sp>
        <p:nvSpPr>
          <p:cNvPr name="TextBox 13" id="13"/>
          <p:cNvSpPr txBox="true"/>
          <p:nvPr/>
        </p:nvSpPr>
        <p:spPr>
          <a:xfrm rot="0">
            <a:off x="2887170" y="1277407"/>
            <a:ext cx="11552977" cy="1166783"/>
          </a:xfrm>
          <a:prstGeom prst="rect">
            <a:avLst/>
          </a:prstGeom>
        </p:spPr>
        <p:txBody>
          <a:bodyPr anchor="t" rtlCol="false" tIns="0" lIns="0" bIns="0" rIns="0">
            <a:spAutoFit/>
          </a:bodyPr>
          <a:lstStyle/>
          <a:p>
            <a:pPr algn="ctr">
              <a:lnSpc>
                <a:spcPts val="9587"/>
              </a:lnSpc>
            </a:pPr>
            <a:r>
              <a:rPr lang="en-US" b="true" sz="6947" spc="368">
                <a:solidFill>
                  <a:srgbClr val="286F17"/>
                </a:solidFill>
                <a:latin typeface="Oswald Bold"/>
                <a:ea typeface="Oswald Bold"/>
                <a:cs typeface="Oswald Bold"/>
                <a:sym typeface="Oswald Bold"/>
              </a:rPr>
              <a:t>GOALS AND OBJECTIVES</a:t>
            </a:r>
          </a:p>
        </p:txBody>
      </p:sp>
      <p:sp>
        <p:nvSpPr>
          <p:cNvPr name="TextBox 14" id="14"/>
          <p:cNvSpPr txBox="true"/>
          <p:nvPr/>
        </p:nvSpPr>
        <p:spPr>
          <a:xfrm rot="0">
            <a:off x="1830975" y="4045241"/>
            <a:ext cx="3360904" cy="2049542"/>
          </a:xfrm>
          <a:prstGeom prst="rect">
            <a:avLst/>
          </a:prstGeom>
        </p:spPr>
        <p:txBody>
          <a:bodyPr anchor="t" rtlCol="false" tIns="0" lIns="0" bIns="0" rIns="0">
            <a:spAutoFit/>
          </a:bodyPr>
          <a:lstStyle/>
          <a:p>
            <a:pPr algn="ctr" marL="0" indent="0" lvl="0">
              <a:lnSpc>
                <a:spcPts val="2774"/>
              </a:lnSpc>
              <a:spcBef>
                <a:spcPct val="0"/>
              </a:spcBef>
            </a:pPr>
            <a:r>
              <a:rPr lang="en-US" sz="2010" spc="197">
                <a:solidFill>
                  <a:srgbClr val="286F17"/>
                </a:solidFill>
                <a:latin typeface="DM Sans"/>
                <a:ea typeface="DM Sans"/>
                <a:cs typeface="DM Sans"/>
                <a:sym typeface="DM Sans"/>
              </a:rPr>
              <a:t>Provide Instant Agricultural Support: Develop an AI-driven chatbot capable of answering a wide range of queries </a:t>
            </a:r>
          </a:p>
        </p:txBody>
      </p:sp>
      <p:grpSp>
        <p:nvGrpSpPr>
          <p:cNvPr name="Group 15" id="15"/>
          <p:cNvGrpSpPr/>
          <p:nvPr/>
        </p:nvGrpSpPr>
        <p:grpSpPr>
          <a:xfrm rot="0">
            <a:off x="7218805" y="3206190"/>
            <a:ext cx="3474003" cy="647719"/>
            <a:chOff x="0" y="0"/>
            <a:chExt cx="914964" cy="170593"/>
          </a:xfrm>
        </p:grpSpPr>
        <p:sp>
          <p:nvSpPr>
            <p:cNvPr name="Freeform 16" id="16"/>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286F17"/>
            </a:solidFill>
          </p:spPr>
        </p:sp>
        <p:sp>
          <p:nvSpPr>
            <p:cNvPr name="TextBox 17" id="17"/>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b="true" sz="2981" spc="29">
                  <a:solidFill>
                    <a:srgbClr val="FFFFFF"/>
                  </a:solidFill>
                  <a:latin typeface="DM Sans Bold"/>
                  <a:ea typeface="DM Sans Bold"/>
                  <a:cs typeface="DM Sans Bold"/>
                  <a:sym typeface="DM Sans Bold"/>
                </a:rPr>
                <a:t>Objective n° 2</a:t>
              </a:r>
            </a:p>
          </p:txBody>
        </p:sp>
      </p:grpSp>
      <p:sp>
        <p:nvSpPr>
          <p:cNvPr name="TextBox 18" id="18"/>
          <p:cNvSpPr txBox="true"/>
          <p:nvPr/>
        </p:nvSpPr>
        <p:spPr>
          <a:xfrm rot="0">
            <a:off x="6138875" y="4042536"/>
            <a:ext cx="6254887" cy="1363742"/>
          </a:xfrm>
          <a:prstGeom prst="rect">
            <a:avLst/>
          </a:prstGeom>
        </p:spPr>
        <p:txBody>
          <a:bodyPr anchor="t" rtlCol="false" tIns="0" lIns="0" bIns="0" rIns="0">
            <a:spAutoFit/>
          </a:bodyPr>
          <a:lstStyle/>
          <a:p>
            <a:pPr algn="ctr" marL="0" indent="0" lvl="0">
              <a:lnSpc>
                <a:spcPts val="2774"/>
              </a:lnSpc>
              <a:spcBef>
                <a:spcPct val="0"/>
              </a:spcBef>
            </a:pPr>
            <a:r>
              <a:rPr lang="en-US" b="true" sz="2010" spc="197">
                <a:solidFill>
                  <a:srgbClr val="286F17"/>
                </a:solidFill>
                <a:latin typeface="DM Sans Bold"/>
                <a:ea typeface="DM Sans Bold"/>
                <a:cs typeface="DM Sans Bold"/>
                <a:sym typeface="DM Sans Bold"/>
              </a:rPr>
              <a:t>Personalized Crop Recommendations</a:t>
            </a:r>
            <a:r>
              <a:rPr lang="en-US" sz="2010" spc="197">
                <a:solidFill>
                  <a:srgbClr val="286F17"/>
                </a:solidFill>
                <a:latin typeface="DM Sans"/>
                <a:ea typeface="DM Sans"/>
                <a:cs typeface="DM Sans"/>
                <a:sym typeface="DM Sans"/>
              </a:rPr>
              <a:t>: Implement a system that recommends the most suitable crops based on real-time analysis of soil parameters</a:t>
            </a:r>
          </a:p>
        </p:txBody>
      </p:sp>
      <p:grpSp>
        <p:nvGrpSpPr>
          <p:cNvPr name="Group 19" id="19"/>
          <p:cNvGrpSpPr/>
          <p:nvPr/>
        </p:nvGrpSpPr>
        <p:grpSpPr>
          <a:xfrm rot="0">
            <a:off x="13284209" y="3206190"/>
            <a:ext cx="3474003" cy="647719"/>
            <a:chOff x="0" y="0"/>
            <a:chExt cx="914964" cy="170593"/>
          </a:xfrm>
        </p:grpSpPr>
        <p:sp>
          <p:nvSpPr>
            <p:cNvPr name="Freeform 20" id="20"/>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286F17"/>
            </a:solidFill>
          </p:spPr>
        </p:sp>
        <p:sp>
          <p:nvSpPr>
            <p:cNvPr name="TextBox 21" id="21"/>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b="true" sz="2981" spc="29">
                  <a:solidFill>
                    <a:srgbClr val="FFFFFF"/>
                  </a:solidFill>
                  <a:latin typeface="DM Sans Bold"/>
                  <a:ea typeface="DM Sans Bold"/>
                  <a:cs typeface="DM Sans Bold"/>
                  <a:sym typeface="DM Sans Bold"/>
                </a:rPr>
                <a:t>Objective n° 3</a:t>
              </a:r>
            </a:p>
          </p:txBody>
        </p:sp>
      </p:grpSp>
      <p:sp>
        <p:nvSpPr>
          <p:cNvPr name="TextBox 22" id="22"/>
          <p:cNvSpPr txBox="true"/>
          <p:nvPr/>
        </p:nvSpPr>
        <p:spPr>
          <a:xfrm rot="0">
            <a:off x="13340758" y="4045241"/>
            <a:ext cx="3360904" cy="2392442"/>
          </a:xfrm>
          <a:prstGeom prst="rect">
            <a:avLst/>
          </a:prstGeom>
        </p:spPr>
        <p:txBody>
          <a:bodyPr anchor="t" rtlCol="false" tIns="0" lIns="0" bIns="0" rIns="0">
            <a:spAutoFit/>
          </a:bodyPr>
          <a:lstStyle/>
          <a:p>
            <a:pPr algn="ctr" marL="0" indent="0" lvl="0">
              <a:lnSpc>
                <a:spcPts val="2774"/>
              </a:lnSpc>
              <a:spcBef>
                <a:spcPct val="0"/>
              </a:spcBef>
            </a:pPr>
            <a:r>
              <a:rPr lang="en-US" sz="2010" spc="197">
                <a:solidFill>
                  <a:srgbClr val="286F17"/>
                </a:solidFill>
                <a:latin typeface="DM Sans"/>
                <a:ea typeface="DM Sans"/>
                <a:cs typeface="DM Sans"/>
                <a:sym typeface="DM Sans"/>
              </a:rPr>
              <a:t>Disease Prediction via Image Analysis: Create a machine learning-based image recognition tool that can accurately predict plant diseases</a:t>
            </a:r>
          </a:p>
        </p:txBody>
      </p:sp>
      <p:sp>
        <p:nvSpPr>
          <p:cNvPr name="Freeform 23" id="23"/>
          <p:cNvSpPr/>
          <p:nvPr/>
        </p:nvSpPr>
        <p:spPr>
          <a:xfrm flipH="false" flipV="false" rot="0">
            <a:off x="14479722" y="-4833750"/>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4176364">
            <a:off x="-4105129" y="6530238"/>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3662994" y="337474"/>
            <a:ext cx="4296549" cy="9570246"/>
            <a:chOff x="0" y="0"/>
            <a:chExt cx="1131601" cy="2520559"/>
          </a:xfrm>
        </p:grpSpPr>
        <p:sp>
          <p:nvSpPr>
            <p:cNvPr name="Freeform 4" id="4"/>
            <p:cNvSpPr/>
            <p:nvPr/>
          </p:nvSpPr>
          <p:spPr>
            <a:xfrm flipH="false" flipV="false" rot="0">
              <a:off x="0" y="0"/>
              <a:ext cx="1131601" cy="2520559"/>
            </a:xfrm>
            <a:custGeom>
              <a:avLst/>
              <a:gdLst/>
              <a:ahLst/>
              <a:cxnLst/>
              <a:rect r="r" b="b" t="t" l="l"/>
              <a:pathLst>
                <a:path h="2520559" w="1131601">
                  <a:moveTo>
                    <a:pt x="0" y="0"/>
                  </a:moveTo>
                  <a:lnTo>
                    <a:pt x="1131601" y="0"/>
                  </a:lnTo>
                  <a:lnTo>
                    <a:pt x="1131601" y="2520559"/>
                  </a:lnTo>
                  <a:lnTo>
                    <a:pt x="0" y="2520559"/>
                  </a:lnTo>
                  <a:close/>
                </a:path>
              </a:pathLst>
            </a:custGeom>
            <a:solidFill>
              <a:srgbClr val="CCCCCC"/>
            </a:solidFill>
          </p:spPr>
        </p:sp>
        <p:sp>
          <p:nvSpPr>
            <p:cNvPr name="TextBox 5" id="5"/>
            <p:cNvSpPr txBox="true"/>
            <p:nvPr/>
          </p:nvSpPr>
          <p:spPr>
            <a:xfrm>
              <a:off x="0" y="-19050"/>
              <a:ext cx="1131601" cy="2539609"/>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2142191" y="4828880"/>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sp>
        <p:nvSpPr>
          <p:cNvPr name="Freeform 7" id="7"/>
          <p:cNvSpPr/>
          <p:nvPr/>
        </p:nvSpPr>
        <p:spPr>
          <a:xfrm flipH="false" flipV="false" rot="0">
            <a:off x="11349998" y="1018248"/>
            <a:ext cx="6176060" cy="8208697"/>
          </a:xfrm>
          <a:custGeom>
            <a:avLst/>
            <a:gdLst/>
            <a:ahLst/>
            <a:cxnLst/>
            <a:rect r="r" b="b" t="t" l="l"/>
            <a:pathLst>
              <a:path h="8208697" w="6176060">
                <a:moveTo>
                  <a:pt x="0" y="0"/>
                </a:moveTo>
                <a:lnTo>
                  <a:pt x="6176060" y="0"/>
                </a:lnTo>
                <a:lnTo>
                  <a:pt x="6176060" y="8208697"/>
                </a:lnTo>
                <a:lnTo>
                  <a:pt x="0" y="8208697"/>
                </a:lnTo>
                <a:lnTo>
                  <a:pt x="0" y="0"/>
                </a:lnTo>
                <a:close/>
              </a:path>
            </a:pathLst>
          </a:custGeom>
          <a:blipFill>
            <a:blip r:embed="rId4"/>
            <a:stretch>
              <a:fillRect l="-49933" t="0" r="-49933" b="0"/>
            </a:stretch>
          </a:blipFill>
        </p:spPr>
      </p:sp>
      <p:grpSp>
        <p:nvGrpSpPr>
          <p:cNvPr name="Group 8" id="8"/>
          <p:cNvGrpSpPr/>
          <p:nvPr/>
        </p:nvGrpSpPr>
        <p:grpSpPr>
          <a:xfrm rot="0">
            <a:off x="2142191" y="2902505"/>
            <a:ext cx="14694476" cy="6841425"/>
            <a:chOff x="0" y="0"/>
            <a:chExt cx="5630090" cy="2621246"/>
          </a:xfrm>
        </p:grpSpPr>
        <p:sp>
          <p:nvSpPr>
            <p:cNvPr name="Freeform 9" id="9"/>
            <p:cNvSpPr/>
            <p:nvPr/>
          </p:nvSpPr>
          <p:spPr>
            <a:xfrm flipH="false" flipV="false" rot="0">
              <a:off x="0" y="0"/>
              <a:ext cx="5630090" cy="2621246"/>
            </a:xfrm>
            <a:custGeom>
              <a:avLst/>
              <a:gdLst/>
              <a:ahLst/>
              <a:cxnLst/>
              <a:rect r="r" b="b" t="t" l="l"/>
              <a:pathLst>
                <a:path h="2621246" w="5630090">
                  <a:moveTo>
                    <a:pt x="0" y="0"/>
                  </a:moveTo>
                  <a:lnTo>
                    <a:pt x="5630090" y="0"/>
                  </a:lnTo>
                  <a:lnTo>
                    <a:pt x="5630090" y="2621246"/>
                  </a:lnTo>
                  <a:lnTo>
                    <a:pt x="0" y="2621246"/>
                  </a:lnTo>
                  <a:close/>
                </a:path>
              </a:pathLst>
            </a:custGeom>
            <a:solidFill>
              <a:srgbClr val="EFEFEF"/>
            </a:solidFill>
          </p:spPr>
        </p:sp>
        <p:sp>
          <p:nvSpPr>
            <p:cNvPr name="TextBox 10" id="10"/>
            <p:cNvSpPr txBox="true"/>
            <p:nvPr/>
          </p:nvSpPr>
          <p:spPr>
            <a:xfrm>
              <a:off x="0" y="-19050"/>
              <a:ext cx="5630090" cy="2640296"/>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700595" y="3396305"/>
            <a:ext cx="1156649" cy="1173721"/>
          </a:xfrm>
          <a:custGeom>
            <a:avLst/>
            <a:gdLst/>
            <a:ahLst/>
            <a:cxnLst/>
            <a:rect r="r" b="b" t="t" l="l"/>
            <a:pathLst>
              <a:path h="1173721" w="1156649">
                <a:moveTo>
                  <a:pt x="0" y="0"/>
                </a:moveTo>
                <a:lnTo>
                  <a:pt x="1156649" y="0"/>
                </a:lnTo>
                <a:lnTo>
                  <a:pt x="1156649" y="1173721"/>
                </a:lnTo>
                <a:lnTo>
                  <a:pt x="0" y="11737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2142191" y="888605"/>
            <a:ext cx="10089225" cy="1686342"/>
          </a:xfrm>
          <a:prstGeom prst="rect">
            <a:avLst/>
          </a:prstGeom>
        </p:spPr>
        <p:txBody>
          <a:bodyPr anchor="t" rtlCol="false" tIns="0" lIns="0" bIns="0" rIns="0">
            <a:spAutoFit/>
          </a:bodyPr>
          <a:lstStyle/>
          <a:p>
            <a:pPr algn="l">
              <a:lnSpc>
                <a:spcPts val="13774"/>
              </a:lnSpc>
            </a:pPr>
            <a:r>
              <a:rPr lang="en-US" b="true" sz="9981" spc="978">
                <a:solidFill>
                  <a:srgbClr val="286F17"/>
                </a:solidFill>
                <a:latin typeface="Oswald Bold"/>
                <a:ea typeface="Oswald Bold"/>
                <a:cs typeface="Oswald Bold"/>
                <a:sym typeface="Oswald Bold"/>
              </a:rPr>
              <a:t>INTRODUCTION</a:t>
            </a:r>
          </a:p>
        </p:txBody>
      </p:sp>
      <p:sp>
        <p:nvSpPr>
          <p:cNvPr name="TextBox 13" id="13"/>
          <p:cNvSpPr txBox="true"/>
          <p:nvPr/>
        </p:nvSpPr>
        <p:spPr>
          <a:xfrm rot="0">
            <a:off x="2474248" y="3358205"/>
            <a:ext cx="13643509" cy="6499328"/>
          </a:xfrm>
          <a:prstGeom prst="rect">
            <a:avLst/>
          </a:prstGeom>
        </p:spPr>
        <p:txBody>
          <a:bodyPr anchor="t" rtlCol="false" tIns="0" lIns="0" bIns="0" rIns="0">
            <a:spAutoFit/>
          </a:bodyPr>
          <a:lstStyle/>
          <a:p>
            <a:pPr algn="just" marL="544940" indent="-272470" lvl="1">
              <a:lnSpc>
                <a:spcPts val="3483"/>
              </a:lnSpc>
              <a:buFont typeface="Arial"/>
              <a:buChar char="•"/>
            </a:pPr>
            <a:r>
              <a:rPr lang="en-US" sz="2524" spc="247">
                <a:solidFill>
                  <a:srgbClr val="286F17"/>
                </a:solidFill>
                <a:latin typeface="DM Sans"/>
                <a:ea typeface="DM Sans"/>
                <a:cs typeface="DM Sans"/>
                <a:sym typeface="DM Sans"/>
              </a:rPr>
              <a:t>Agriculture is the backbone of many economies, yet farmers continue to face challenges in optimizing crop yields, managing soil health, and controlling plant diseases.</a:t>
            </a:r>
          </a:p>
          <a:p>
            <a:pPr algn="just" marL="544940" indent="-272470" lvl="1">
              <a:lnSpc>
                <a:spcPts val="3483"/>
              </a:lnSpc>
              <a:buFont typeface="Arial"/>
              <a:buChar char="•"/>
            </a:pPr>
            <a:r>
              <a:rPr lang="en-US" sz="2524" spc="247">
                <a:solidFill>
                  <a:srgbClr val="286F17"/>
                </a:solidFill>
                <a:latin typeface="DM Sans"/>
                <a:ea typeface="DM Sans"/>
                <a:cs typeface="DM Sans"/>
                <a:sym typeface="DM Sans"/>
              </a:rPr>
              <a:t> With the increasing need for sustainable farming practices and access to timely, accurate information, integrating technology into agriculture has become essential. </a:t>
            </a:r>
          </a:p>
          <a:p>
            <a:pPr algn="just" marL="544940" indent="-272470" lvl="1">
              <a:lnSpc>
                <a:spcPts val="3483"/>
              </a:lnSpc>
              <a:buFont typeface="Arial"/>
              <a:buChar char="•"/>
            </a:pPr>
            <a:r>
              <a:rPr lang="en-US" sz="2524" spc="247">
                <a:solidFill>
                  <a:srgbClr val="286F17"/>
                </a:solidFill>
                <a:latin typeface="DM Sans"/>
                <a:ea typeface="DM Sans"/>
                <a:cs typeface="DM Sans"/>
                <a:sym typeface="DM Sans"/>
              </a:rPr>
              <a:t>This project presents an AI-powered chatbot designed to assist farmers by addressing common agricultural challenges through an easy-to-use platform. </a:t>
            </a:r>
          </a:p>
          <a:p>
            <a:pPr algn="just" marL="544940" indent="-272470" lvl="1">
              <a:lnSpc>
                <a:spcPts val="3483"/>
              </a:lnSpc>
              <a:buFont typeface="Arial"/>
              <a:buChar char="•"/>
            </a:pPr>
            <a:r>
              <a:rPr lang="en-US" sz="2524" spc="247">
                <a:solidFill>
                  <a:srgbClr val="286F17"/>
                </a:solidFill>
                <a:latin typeface="DM Sans"/>
                <a:ea typeface="DM Sans"/>
                <a:cs typeface="DM Sans"/>
                <a:sym typeface="DM Sans"/>
              </a:rPr>
              <a:t>The chatbot not only answers farmers' queries but also provides personalized crop recommendations based on soil parameters and predicts plant diseases through image analysis.</a:t>
            </a:r>
          </a:p>
          <a:p>
            <a:pPr algn="just" marL="544940" indent="-272470" lvl="1">
              <a:lnSpc>
                <a:spcPts val="3483"/>
              </a:lnSpc>
              <a:buFont typeface="Arial"/>
              <a:buChar char="•"/>
            </a:pPr>
            <a:r>
              <a:rPr lang="en-US" sz="2524" spc="247">
                <a:solidFill>
                  <a:srgbClr val="286F17"/>
                </a:solidFill>
                <a:latin typeface="DM Sans"/>
                <a:ea typeface="DM Sans"/>
                <a:cs typeface="DM Sans"/>
                <a:sym typeface="DM Sans"/>
              </a:rPr>
              <a:t> By combining machine learning, natural language processing, and image recognition technologies, this system aims to enhance decision-making, improve productivity, and promote sustainable farming practices. </a:t>
            </a:r>
          </a:p>
        </p:txBody>
      </p:sp>
      <p:sp>
        <p:nvSpPr>
          <p:cNvPr name="Freeform 14" id="14"/>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86F17"/>
        </a:solidFill>
      </p:bgPr>
    </p:bg>
    <p:spTree>
      <p:nvGrpSpPr>
        <p:cNvPr id="1" name=""/>
        <p:cNvGrpSpPr/>
        <p:nvPr/>
      </p:nvGrpSpPr>
      <p:grpSpPr>
        <a:xfrm>
          <a:off x="0" y="0"/>
          <a:ext cx="0" cy="0"/>
          <a:chOff x="0" y="0"/>
          <a:chExt cx="0" cy="0"/>
        </a:xfrm>
      </p:grpSpPr>
      <p:sp>
        <p:nvSpPr>
          <p:cNvPr name="Freeform 2" id="2"/>
          <p:cNvSpPr/>
          <p:nvPr/>
        </p:nvSpPr>
        <p:spPr>
          <a:xfrm flipH="false" flipV="false" rot="0">
            <a:off x="-8169367" y="-10264537"/>
            <a:ext cx="15841853" cy="16255633"/>
          </a:xfrm>
          <a:custGeom>
            <a:avLst/>
            <a:gdLst/>
            <a:ahLst/>
            <a:cxnLst/>
            <a:rect r="r" b="b" t="t" l="l"/>
            <a:pathLst>
              <a:path h="16255633" w="15841853">
                <a:moveTo>
                  <a:pt x="0" y="0"/>
                </a:moveTo>
                <a:lnTo>
                  <a:pt x="15841853" y="0"/>
                </a:lnTo>
                <a:lnTo>
                  <a:pt x="15841853" y="16255632"/>
                </a:lnTo>
                <a:lnTo>
                  <a:pt x="0" y="162556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30750" y="3438693"/>
            <a:ext cx="15073163" cy="4335967"/>
          </a:xfrm>
          <a:prstGeom prst="rect">
            <a:avLst/>
          </a:prstGeom>
        </p:spPr>
        <p:txBody>
          <a:bodyPr anchor="t" rtlCol="false" tIns="0" lIns="0" bIns="0" rIns="0">
            <a:spAutoFit/>
          </a:bodyPr>
          <a:lstStyle/>
          <a:p>
            <a:pPr algn="ctr">
              <a:lnSpc>
                <a:spcPts val="17437"/>
              </a:lnSpc>
            </a:pPr>
            <a:r>
              <a:rPr lang="en-US" b="true" sz="12635" spc="1238">
                <a:solidFill>
                  <a:srgbClr val="FFFFFF"/>
                </a:solidFill>
                <a:latin typeface="Oswald Bold"/>
                <a:ea typeface="Oswald Bold"/>
                <a:cs typeface="Oswald Bold"/>
                <a:sym typeface="Oswald Bold"/>
              </a:rPr>
              <a:t>EXISTING </a:t>
            </a:r>
          </a:p>
          <a:p>
            <a:pPr algn="ctr">
              <a:lnSpc>
                <a:spcPts val="17437"/>
              </a:lnSpc>
            </a:pPr>
            <a:r>
              <a:rPr lang="en-US" b="true" sz="12635" spc="1238">
                <a:solidFill>
                  <a:srgbClr val="FFFFFF"/>
                </a:solidFill>
                <a:latin typeface="Oswald Bold"/>
                <a:ea typeface="Oswald Bold"/>
                <a:cs typeface="Oswald Bold"/>
                <a:sym typeface="Oswald Bold"/>
              </a:rPr>
              <a:t>SYSTEM</a:t>
            </a:r>
          </a:p>
        </p:txBody>
      </p:sp>
      <p:sp>
        <p:nvSpPr>
          <p:cNvPr name="Freeform 4" id="4"/>
          <p:cNvSpPr/>
          <p:nvPr/>
        </p:nvSpPr>
        <p:spPr>
          <a:xfrm flipH="false" flipV="false" rot="0">
            <a:off x="13447294" y="-3843198"/>
            <a:ext cx="15841853" cy="16255633"/>
          </a:xfrm>
          <a:custGeom>
            <a:avLst/>
            <a:gdLst/>
            <a:ahLst/>
            <a:cxnLst/>
            <a:rect r="r" b="b" t="t" l="l"/>
            <a:pathLst>
              <a:path h="16255633" w="15841853">
                <a:moveTo>
                  <a:pt x="0" y="0"/>
                </a:moveTo>
                <a:lnTo>
                  <a:pt x="15841853" y="0"/>
                </a:lnTo>
                <a:lnTo>
                  <a:pt x="15841853" y="16255632"/>
                </a:lnTo>
                <a:lnTo>
                  <a:pt x="0" y="162556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86F17"/>
        </a:solidFill>
      </p:bgPr>
    </p:bg>
    <p:spTree>
      <p:nvGrpSpPr>
        <p:cNvPr id="1" name=""/>
        <p:cNvGrpSpPr/>
        <p:nvPr/>
      </p:nvGrpSpPr>
      <p:grpSpPr>
        <a:xfrm>
          <a:off x="0" y="0"/>
          <a:ext cx="0" cy="0"/>
          <a:chOff x="0" y="0"/>
          <a:chExt cx="0" cy="0"/>
        </a:xfrm>
      </p:grpSpPr>
      <p:grpSp>
        <p:nvGrpSpPr>
          <p:cNvPr name="Group 2" id="2"/>
          <p:cNvGrpSpPr/>
          <p:nvPr/>
        </p:nvGrpSpPr>
        <p:grpSpPr>
          <a:xfrm rot="0">
            <a:off x="-2770706" y="-3368517"/>
            <a:ext cx="4959890" cy="49598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4F5"/>
            </a:solidFill>
          </p:spPr>
        </p:sp>
        <p:sp>
          <p:nvSpPr>
            <p:cNvPr name="TextBox 4" id="4"/>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2844847" y="4107866"/>
            <a:ext cx="13188954" cy="1318895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4F5"/>
            </a:solidFill>
          </p:spPr>
        </p:sp>
        <p:sp>
          <p:nvSpPr>
            <p:cNvPr name="TextBox 7" id="7"/>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Freeform 8" id="8"/>
          <p:cNvSpPr/>
          <p:nvPr/>
        </p:nvSpPr>
        <p:spPr>
          <a:xfrm flipH="false" flipV="false" rot="0">
            <a:off x="-7277615" y="-5650659"/>
            <a:ext cx="12110389" cy="12426705"/>
          </a:xfrm>
          <a:custGeom>
            <a:avLst/>
            <a:gdLst/>
            <a:ahLst/>
            <a:cxnLst/>
            <a:rect r="r" b="b" t="t" l="l"/>
            <a:pathLst>
              <a:path h="12426705" w="12110389">
                <a:moveTo>
                  <a:pt x="0" y="0"/>
                </a:moveTo>
                <a:lnTo>
                  <a:pt x="12110389" y="0"/>
                </a:lnTo>
                <a:lnTo>
                  <a:pt x="12110389" y="12426705"/>
                </a:lnTo>
                <a:lnTo>
                  <a:pt x="0" y="12426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3986589">
            <a:off x="8791778" y="8812739"/>
            <a:ext cx="9894000" cy="10152425"/>
          </a:xfrm>
          <a:custGeom>
            <a:avLst/>
            <a:gdLst/>
            <a:ahLst/>
            <a:cxnLst/>
            <a:rect r="r" b="b" t="t" l="l"/>
            <a:pathLst>
              <a:path h="10152425" w="9894000">
                <a:moveTo>
                  <a:pt x="0" y="0"/>
                </a:moveTo>
                <a:lnTo>
                  <a:pt x="9894000" y="0"/>
                </a:lnTo>
                <a:lnTo>
                  <a:pt x="9894000" y="10152426"/>
                </a:lnTo>
                <a:lnTo>
                  <a:pt x="0" y="101524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5590982" y="419818"/>
            <a:ext cx="9460274" cy="1396186"/>
          </a:xfrm>
          <a:prstGeom prst="rect">
            <a:avLst/>
          </a:prstGeom>
        </p:spPr>
        <p:txBody>
          <a:bodyPr anchor="t" rtlCol="false" tIns="0" lIns="0" bIns="0" rIns="0">
            <a:spAutoFit/>
          </a:bodyPr>
          <a:lstStyle/>
          <a:p>
            <a:pPr algn="l">
              <a:lnSpc>
                <a:spcPts val="11349"/>
              </a:lnSpc>
            </a:pPr>
            <a:r>
              <a:rPr lang="en-US" b="true" sz="8224" spc="806">
                <a:solidFill>
                  <a:srgbClr val="FFFFFF"/>
                </a:solidFill>
                <a:latin typeface="Oswald Bold"/>
                <a:ea typeface="Oswald Bold"/>
                <a:cs typeface="Oswald Bold"/>
                <a:sym typeface="Oswald Bold"/>
              </a:rPr>
              <a:t>EXISTING SYSTEM</a:t>
            </a:r>
          </a:p>
        </p:txBody>
      </p:sp>
      <p:sp>
        <p:nvSpPr>
          <p:cNvPr name="TextBox 11" id="11"/>
          <p:cNvSpPr txBox="true"/>
          <p:nvPr/>
        </p:nvSpPr>
        <p:spPr>
          <a:xfrm rot="0">
            <a:off x="2189184" y="2251715"/>
            <a:ext cx="12543991" cy="3655153"/>
          </a:xfrm>
          <a:prstGeom prst="rect">
            <a:avLst/>
          </a:prstGeom>
        </p:spPr>
        <p:txBody>
          <a:bodyPr anchor="t" rtlCol="false" tIns="0" lIns="0" bIns="0" rIns="0">
            <a:spAutoFit/>
          </a:bodyPr>
          <a:lstStyle/>
          <a:p>
            <a:pPr algn="just" marL="652818" indent="-326409" lvl="1">
              <a:lnSpc>
                <a:spcPts val="4172"/>
              </a:lnSpc>
              <a:buFont typeface="Arial"/>
              <a:buChar char="•"/>
            </a:pPr>
            <a:r>
              <a:rPr lang="en-US" sz="3023" spc="296">
                <a:solidFill>
                  <a:srgbClr val="F5FFF5"/>
                </a:solidFill>
                <a:latin typeface="DM Sans"/>
                <a:ea typeface="DM Sans"/>
                <a:cs typeface="DM Sans"/>
                <a:sym typeface="DM Sans"/>
              </a:rPr>
              <a:t>In modern agriculture, farmers often struggle with optimizing crop production, managing soil health, and diagnosing plant diseases.</a:t>
            </a:r>
          </a:p>
          <a:p>
            <a:pPr algn="just" marL="652818" indent="-326409" lvl="1">
              <a:lnSpc>
                <a:spcPts val="4172"/>
              </a:lnSpc>
              <a:buFont typeface="Arial"/>
              <a:buChar char="•"/>
            </a:pPr>
            <a:r>
              <a:rPr lang="en-US" sz="3023" spc="296">
                <a:solidFill>
                  <a:srgbClr val="F5FFF5"/>
                </a:solidFill>
                <a:latin typeface="DM Sans"/>
                <a:ea typeface="DM Sans"/>
                <a:cs typeface="DM Sans"/>
                <a:sym typeface="DM Sans"/>
              </a:rPr>
              <a:t> To address these challenges, the integration of advanced machine learning techniques can play a crucial role in supporting farmers with real-time, data-driven insights.</a:t>
            </a:r>
          </a:p>
        </p:txBody>
      </p:sp>
      <p:sp>
        <p:nvSpPr>
          <p:cNvPr name="TextBox 12" id="12"/>
          <p:cNvSpPr txBox="true"/>
          <p:nvPr/>
        </p:nvSpPr>
        <p:spPr>
          <a:xfrm rot="0">
            <a:off x="14146312" y="5555102"/>
            <a:ext cx="4889377" cy="2222812"/>
          </a:xfrm>
          <a:prstGeom prst="rect">
            <a:avLst/>
          </a:prstGeom>
        </p:spPr>
        <p:txBody>
          <a:bodyPr anchor="t" rtlCol="false" tIns="0" lIns="0" bIns="0" rIns="0">
            <a:spAutoFit/>
          </a:bodyPr>
          <a:lstStyle/>
          <a:p>
            <a:pPr algn="ctr" marL="0" indent="0" lvl="0">
              <a:lnSpc>
                <a:spcPts val="18185"/>
              </a:lnSpc>
              <a:spcBef>
                <a:spcPct val="0"/>
              </a:spcBef>
            </a:pPr>
            <a:r>
              <a:rPr lang="en-US" b="true" sz="13177">
                <a:solidFill>
                  <a:srgbClr val="286F17"/>
                </a:solidFill>
                <a:latin typeface="Oswald Bold"/>
                <a:ea typeface="Oswald Bold"/>
                <a:cs typeface="Oswald Bold"/>
                <a:sym typeface="Oswald Bold"/>
              </a:rPr>
              <a:t>80%</a:t>
            </a:r>
          </a:p>
        </p:txBody>
      </p:sp>
      <p:pic>
        <p:nvPicPr>
          <p:cNvPr name="Picture 13" id="13"/>
          <p:cNvPicPr>
            <a:picLocks noChangeAspect="true"/>
          </p:cNvPicPr>
          <p:nvPr/>
        </p:nvPicPr>
        <p:blipFill>
          <a:blip r:embed="rId4"/>
          <a:stretch>
            <a:fillRect/>
          </a:stretch>
        </p:blipFill>
        <p:spPr>
          <a:xfrm rot="0">
            <a:off x="13802024" y="7489585"/>
            <a:ext cx="4131452" cy="996073"/>
          </a:xfrm>
          <a:prstGeom prst="rect">
            <a:avLst/>
          </a:prstGeom>
        </p:spPr>
      </p:pic>
      <p:sp>
        <p:nvSpPr>
          <p:cNvPr name="TextBox 14" id="14"/>
          <p:cNvSpPr txBox="true"/>
          <p:nvPr/>
        </p:nvSpPr>
        <p:spPr>
          <a:xfrm rot="0">
            <a:off x="14146312" y="8384250"/>
            <a:ext cx="9460274" cy="1005840"/>
          </a:xfrm>
          <a:prstGeom prst="rect">
            <a:avLst/>
          </a:prstGeom>
        </p:spPr>
        <p:txBody>
          <a:bodyPr anchor="t" rtlCol="false" tIns="0" lIns="0" bIns="0" rIns="0">
            <a:spAutoFit/>
          </a:bodyPr>
          <a:lstStyle/>
          <a:p>
            <a:pPr algn="l">
              <a:lnSpc>
                <a:spcPts val="8280"/>
              </a:lnSpc>
            </a:pPr>
            <a:r>
              <a:rPr lang="en-US" b="true" sz="6000" spc="588">
                <a:solidFill>
                  <a:srgbClr val="286F17"/>
                </a:solidFill>
                <a:latin typeface="Oswald Bold"/>
                <a:ea typeface="Oswald Bold"/>
                <a:cs typeface="Oswald Bold"/>
                <a:sym typeface="Oswald Bold"/>
              </a:rPr>
              <a:t>ACCURACY</a:t>
            </a:r>
          </a:p>
        </p:txBody>
      </p:sp>
      <p:sp>
        <p:nvSpPr>
          <p:cNvPr name="TextBox 15" id="15"/>
          <p:cNvSpPr txBox="true"/>
          <p:nvPr/>
        </p:nvSpPr>
        <p:spPr>
          <a:xfrm rot="0">
            <a:off x="2189184" y="5936779"/>
            <a:ext cx="10928169" cy="3727513"/>
          </a:xfrm>
          <a:prstGeom prst="rect">
            <a:avLst/>
          </a:prstGeom>
        </p:spPr>
        <p:txBody>
          <a:bodyPr anchor="t" rtlCol="false" tIns="0" lIns="0" bIns="0" rIns="0">
            <a:spAutoFit/>
          </a:bodyPr>
          <a:lstStyle/>
          <a:p>
            <a:pPr algn="just" marL="652818" indent="-326409" lvl="1">
              <a:lnSpc>
                <a:spcPts val="4202"/>
              </a:lnSpc>
              <a:buFont typeface="Arial"/>
              <a:buChar char="•"/>
            </a:pPr>
            <a:r>
              <a:rPr lang="en-US" sz="3023" spc="296">
                <a:solidFill>
                  <a:srgbClr val="F5FFF5"/>
                </a:solidFill>
                <a:latin typeface="DM Sans"/>
                <a:ea typeface="DM Sans"/>
                <a:cs typeface="DM Sans"/>
                <a:sym typeface="DM Sans"/>
              </a:rPr>
              <a:t>This project introduces an AI-powered chatbot designed specifically for agriculture, utilizing the Support Vector Machine (SVM) algorithm to recommend suitable crops based on soil parameters and predict plant diseases from images. </a:t>
            </a:r>
          </a:p>
          <a:p>
            <a:pPr algn="just">
              <a:lnSpc>
                <a:spcPts val="420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0"/>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286F17"/>
            </a:solidFill>
          </p:spPr>
        </p:sp>
        <p:sp>
          <p:nvSpPr>
            <p:cNvPr name="TextBox 5" id="5"/>
            <p:cNvSpPr txBox="true"/>
            <p:nvPr/>
          </p:nvSpPr>
          <p:spPr>
            <a:xfrm>
              <a:off x="0" y="-19050"/>
              <a:ext cx="4816593" cy="831850"/>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729397"/>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163000" y="3875422"/>
            <a:ext cx="4473739" cy="2443073"/>
          </a:xfrm>
          <a:custGeom>
            <a:avLst/>
            <a:gdLst/>
            <a:ahLst/>
            <a:cxnLst/>
            <a:rect r="r" b="b" t="t" l="l"/>
            <a:pathLst>
              <a:path h="2443073" w="4473739">
                <a:moveTo>
                  <a:pt x="0" y="0"/>
                </a:moveTo>
                <a:lnTo>
                  <a:pt x="4473739" y="0"/>
                </a:lnTo>
                <a:lnTo>
                  <a:pt x="4473739" y="2443073"/>
                </a:lnTo>
                <a:lnTo>
                  <a:pt x="0" y="2443073"/>
                </a:lnTo>
                <a:lnTo>
                  <a:pt x="0" y="0"/>
                </a:lnTo>
                <a:close/>
              </a:path>
            </a:pathLst>
          </a:custGeom>
          <a:blipFill>
            <a:blip r:embed="rId5"/>
            <a:stretch>
              <a:fillRect l="0" t="-11116" r="0" b="-11116"/>
            </a:stretch>
          </a:blipFill>
        </p:spPr>
      </p:sp>
      <p:grpSp>
        <p:nvGrpSpPr>
          <p:cNvPr name="Group 9" id="9"/>
          <p:cNvGrpSpPr/>
          <p:nvPr/>
        </p:nvGrpSpPr>
        <p:grpSpPr>
          <a:xfrm rot="0">
            <a:off x="2163000" y="3442596"/>
            <a:ext cx="4473739" cy="636748"/>
            <a:chOff x="0" y="0"/>
            <a:chExt cx="1178269" cy="167703"/>
          </a:xfrm>
        </p:grpSpPr>
        <p:sp>
          <p:nvSpPr>
            <p:cNvPr name="Freeform 10" id="10"/>
            <p:cNvSpPr/>
            <p:nvPr/>
          </p:nvSpPr>
          <p:spPr>
            <a:xfrm flipH="false" flipV="false" rot="0">
              <a:off x="0" y="0"/>
              <a:ext cx="1178269" cy="167703"/>
            </a:xfrm>
            <a:custGeom>
              <a:avLst/>
              <a:gdLst/>
              <a:ahLst/>
              <a:cxnLst/>
              <a:rect r="r" b="b" t="t" l="l"/>
              <a:pathLst>
                <a:path h="167703" w="1178269">
                  <a:moveTo>
                    <a:pt x="0" y="0"/>
                  </a:moveTo>
                  <a:lnTo>
                    <a:pt x="1178269" y="0"/>
                  </a:lnTo>
                  <a:lnTo>
                    <a:pt x="1178269" y="167703"/>
                  </a:lnTo>
                  <a:lnTo>
                    <a:pt x="0" y="167703"/>
                  </a:lnTo>
                  <a:close/>
                </a:path>
              </a:pathLst>
            </a:custGeom>
            <a:solidFill>
              <a:srgbClr val="1A1A1A"/>
            </a:solidFill>
          </p:spPr>
        </p:sp>
        <p:sp>
          <p:nvSpPr>
            <p:cNvPr name="TextBox 11" id="11"/>
            <p:cNvSpPr txBox="true"/>
            <p:nvPr/>
          </p:nvSpPr>
          <p:spPr>
            <a:xfrm>
              <a:off x="0" y="-57150"/>
              <a:ext cx="1178269" cy="224853"/>
            </a:xfrm>
            <a:prstGeom prst="rect">
              <a:avLst/>
            </a:prstGeom>
          </p:spPr>
          <p:txBody>
            <a:bodyPr anchor="ctr" rtlCol="false" tIns="50800" lIns="50800" bIns="50800" rIns="50800"/>
            <a:lstStyle/>
            <a:p>
              <a:pPr algn="ctr" marL="0" indent="0" lvl="0">
                <a:lnSpc>
                  <a:spcPts val="4114"/>
                </a:lnSpc>
                <a:spcBef>
                  <a:spcPct val="0"/>
                </a:spcBef>
              </a:pPr>
              <a:r>
                <a:rPr lang="en-US" sz="2981" i="true" spc="29">
                  <a:solidFill>
                    <a:srgbClr val="FFFFFF"/>
                  </a:solidFill>
                  <a:latin typeface="DM Sans Italics"/>
                  <a:ea typeface="DM Sans Italics"/>
                  <a:cs typeface="DM Sans Italics"/>
                  <a:sym typeface="DM Sans Italics"/>
                </a:rPr>
                <a:t>1</a:t>
              </a:r>
            </a:p>
          </p:txBody>
        </p:sp>
      </p:grpSp>
      <p:sp>
        <p:nvSpPr>
          <p:cNvPr name="TextBox 12" id="12"/>
          <p:cNvSpPr txBox="true"/>
          <p:nvPr/>
        </p:nvSpPr>
        <p:spPr>
          <a:xfrm rot="0">
            <a:off x="3690980" y="1232286"/>
            <a:ext cx="10906040" cy="1349947"/>
          </a:xfrm>
          <a:prstGeom prst="rect">
            <a:avLst/>
          </a:prstGeom>
        </p:spPr>
        <p:txBody>
          <a:bodyPr anchor="t" rtlCol="false" tIns="0" lIns="0" bIns="0" rIns="0">
            <a:spAutoFit/>
          </a:bodyPr>
          <a:lstStyle/>
          <a:p>
            <a:pPr algn="ctr">
              <a:lnSpc>
                <a:spcPts val="11082"/>
              </a:lnSpc>
            </a:pPr>
            <a:r>
              <a:rPr lang="en-US" b="true" sz="8030" spc="786">
                <a:solidFill>
                  <a:srgbClr val="FFFFFF"/>
                </a:solidFill>
                <a:latin typeface="Oswald Bold"/>
                <a:ea typeface="Oswald Bold"/>
                <a:cs typeface="Oswald Bold"/>
                <a:sym typeface="Oswald Bold"/>
              </a:rPr>
              <a:t>DISADVANTAGES</a:t>
            </a:r>
          </a:p>
        </p:txBody>
      </p:sp>
      <p:grpSp>
        <p:nvGrpSpPr>
          <p:cNvPr name="Group 13" id="13"/>
          <p:cNvGrpSpPr/>
          <p:nvPr/>
        </p:nvGrpSpPr>
        <p:grpSpPr>
          <a:xfrm rot="0">
            <a:off x="6893475" y="3510391"/>
            <a:ext cx="9034431" cy="2808103"/>
            <a:chOff x="0" y="0"/>
            <a:chExt cx="1744696" cy="542290"/>
          </a:xfrm>
        </p:grpSpPr>
        <p:sp>
          <p:nvSpPr>
            <p:cNvPr name="Freeform 14" id="14"/>
            <p:cNvSpPr/>
            <p:nvPr/>
          </p:nvSpPr>
          <p:spPr>
            <a:xfrm flipH="false" flipV="false" rot="0">
              <a:off x="0" y="0"/>
              <a:ext cx="1744696" cy="542290"/>
            </a:xfrm>
            <a:custGeom>
              <a:avLst/>
              <a:gdLst/>
              <a:ahLst/>
              <a:cxnLst/>
              <a:rect r="r" b="b" t="t" l="l"/>
              <a:pathLst>
                <a:path h="542290" w="1744696">
                  <a:moveTo>
                    <a:pt x="0" y="0"/>
                  </a:moveTo>
                  <a:lnTo>
                    <a:pt x="1744696" y="0"/>
                  </a:lnTo>
                  <a:lnTo>
                    <a:pt x="1744696" y="542290"/>
                  </a:lnTo>
                  <a:lnTo>
                    <a:pt x="0" y="542290"/>
                  </a:lnTo>
                  <a:close/>
                </a:path>
              </a:pathLst>
            </a:custGeom>
            <a:solidFill>
              <a:srgbClr val="000000">
                <a:alpha val="0"/>
              </a:srgbClr>
            </a:solidFill>
            <a:ln w="38100" cap="sq">
              <a:solidFill>
                <a:srgbClr val="286F17"/>
              </a:solidFill>
              <a:prstDash val="solid"/>
              <a:miter/>
            </a:ln>
          </p:spPr>
        </p:sp>
        <p:sp>
          <p:nvSpPr>
            <p:cNvPr name="TextBox 15" id="15"/>
            <p:cNvSpPr txBox="true"/>
            <p:nvPr/>
          </p:nvSpPr>
          <p:spPr>
            <a:xfrm>
              <a:off x="0" y="-19050"/>
              <a:ext cx="1744696" cy="561340"/>
            </a:xfrm>
            <a:prstGeom prst="rect">
              <a:avLst/>
            </a:prstGeom>
          </p:spPr>
          <p:txBody>
            <a:bodyPr anchor="ctr" rtlCol="false" tIns="50800" lIns="50800" bIns="50800" rIns="50800"/>
            <a:lstStyle/>
            <a:p>
              <a:pPr algn="ctr">
                <a:lnSpc>
                  <a:spcPts val="2859"/>
                </a:lnSpc>
              </a:pPr>
            </a:p>
          </p:txBody>
        </p:sp>
      </p:grpSp>
      <p:sp>
        <p:nvSpPr>
          <p:cNvPr name="TextBox 16" id="16"/>
          <p:cNvSpPr txBox="true"/>
          <p:nvPr/>
        </p:nvSpPr>
        <p:spPr>
          <a:xfrm rot="0">
            <a:off x="7224667" y="3757781"/>
            <a:ext cx="8900334" cy="3045333"/>
          </a:xfrm>
          <a:prstGeom prst="rect">
            <a:avLst/>
          </a:prstGeom>
        </p:spPr>
        <p:txBody>
          <a:bodyPr anchor="t" rtlCol="false" tIns="0" lIns="0" bIns="0" rIns="0">
            <a:spAutoFit/>
          </a:bodyPr>
          <a:lstStyle/>
          <a:p>
            <a:pPr algn="l" marL="474979" indent="-237490" lvl="1">
              <a:lnSpc>
                <a:spcPts val="3035"/>
              </a:lnSpc>
              <a:buFont typeface="Arial"/>
              <a:buChar char="•"/>
            </a:pPr>
            <a:r>
              <a:rPr lang="en-US" b="true" sz="2199" spc="215">
                <a:solidFill>
                  <a:srgbClr val="286F17"/>
                </a:solidFill>
                <a:latin typeface="DM Sans Bold"/>
                <a:ea typeface="DM Sans Bold"/>
                <a:cs typeface="DM Sans Bold"/>
                <a:sym typeface="DM Sans Bold"/>
              </a:rPr>
              <a:t>High Computational Cost</a:t>
            </a:r>
          </a:p>
          <a:p>
            <a:pPr algn="l">
              <a:lnSpc>
                <a:spcPts val="3035"/>
              </a:lnSpc>
            </a:pPr>
            <a:r>
              <a:rPr lang="en-US" sz="2199" spc="215">
                <a:solidFill>
                  <a:srgbClr val="286F17"/>
                </a:solidFill>
                <a:latin typeface="DM Sans"/>
                <a:ea typeface="DM Sans"/>
                <a:cs typeface="DM Sans"/>
                <a:sym typeface="DM Sans"/>
              </a:rPr>
              <a:t>SVMs can be computationally intensive, especially with large datasets. Training time increases significantly with the number of samples, making it less suitable for large-scale applications.</a:t>
            </a:r>
          </a:p>
          <a:p>
            <a:pPr algn="l">
              <a:lnSpc>
                <a:spcPts val="3035"/>
              </a:lnSpc>
            </a:pPr>
          </a:p>
          <a:p>
            <a:pPr algn="l">
              <a:lnSpc>
                <a:spcPts val="3035"/>
              </a:lnSpc>
            </a:pPr>
          </a:p>
          <a:p>
            <a:pPr algn="l">
              <a:lnSpc>
                <a:spcPts val="3035"/>
              </a:lnSpc>
            </a:pPr>
          </a:p>
        </p:txBody>
      </p:sp>
      <p:sp>
        <p:nvSpPr>
          <p:cNvPr name="Freeform 17" id="17"/>
          <p:cNvSpPr/>
          <p:nvPr/>
        </p:nvSpPr>
        <p:spPr>
          <a:xfrm flipH="false" flipV="false" rot="0">
            <a:off x="11410691" y="6937093"/>
            <a:ext cx="4473739" cy="2443073"/>
          </a:xfrm>
          <a:custGeom>
            <a:avLst/>
            <a:gdLst/>
            <a:ahLst/>
            <a:cxnLst/>
            <a:rect r="r" b="b" t="t" l="l"/>
            <a:pathLst>
              <a:path h="2443073" w="4473739">
                <a:moveTo>
                  <a:pt x="0" y="0"/>
                </a:moveTo>
                <a:lnTo>
                  <a:pt x="4473739" y="0"/>
                </a:lnTo>
                <a:lnTo>
                  <a:pt x="4473739" y="2443073"/>
                </a:lnTo>
                <a:lnTo>
                  <a:pt x="0" y="2443073"/>
                </a:lnTo>
                <a:lnTo>
                  <a:pt x="0" y="0"/>
                </a:lnTo>
                <a:close/>
              </a:path>
            </a:pathLst>
          </a:custGeom>
          <a:blipFill>
            <a:blip r:embed="rId6"/>
            <a:stretch>
              <a:fillRect l="0" t="-11001" r="0" b="-11001"/>
            </a:stretch>
          </a:blipFill>
        </p:spPr>
      </p:sp>
      <p:grpSp>
        <p:nvGrpSpPr>
          <p:cNvPr name="Group 18" id="18"/>
          <p:cNvGrpSpPr/>
          <p:nvPr/>
        </p:nvGrpSpPr>
        <p:grpSpPr>
          <a:xfrm rot="0">
            <a:off x="11410691" y="6504266"/>
            <a:ext cx="4473739" cy="636748"/>
            <a:chOff x="0" y="0"/>
            <a:chExt cx="1178269" cy="167703"/>
          </a:xfrm>
        </p:grpSpPr>
        <p:sp>
          <p:nvSpPr>
            <p:cNvPr name="Freeform 19" id="19"/>
            <p:cNvSpPr/>
            <p:nvPr/>
          </p:nvSpPr>
          <p:spPr>
            <a:xfrm flipH="false" flipV="false" rot="0">
              <a:off x="0" y="0"/>
              <a:ext cx="1178269" cy="167703"/>
            </a:xfrm>
            <a:custGeom>
              <a:avLst/>
              <a:gdLst/>
              <a:ahLst/>
              <a:cxnLst/>
              <a:rect r="r" b="b" t="t" l="l"/>
              <a:pathLst>
                <a:path h="167703" w="1178269">
                  <a:moveTo>
                    <a:pt x="0" y="0"/>
                  </a:moveTo>
                  <a:lnTo>
                    <a:pt x="1178269" y="0"/>
                  </a:lnTo>
                  <a:lnTo>
                    <a:pt x="1178269" y="167703"/>
                  </a:lnTo>
                  <a:lnTo>
                    <a:pt x="0" y="167703"/>
                  </a:lnTo>
                  <a:close/>
                </a:path>
              </a:pathLst>
            </a:custGeom>
            <a:solidFill>
              <a:srgbClr val="1A1A1A"/>
            </a:solidFill>
          </p:spPr>
        </p:sp>
        <p:sp>
          <p:nvSpPr>
            <p:cNvPr name="TextBox 20" id="20"/>
            <p:cNvSpPr txBox="true"/>
            <p:nvPr/>
          </p:nvSpPr>
          <p:spPr>
            <a:xfrm>
              <a:off x="0" y="-57150"/>
              <a:ext cx="1178269" cy="224853"/>
            </a:xfrm>
            <a:prstGeom prst="rect">
              <a:avLst/>
            </a:prstGeom>
          </p:spPr>
          <p:txBody>
            <a:bodyPr anchor="ctr" rtlCol="false" tIns="50800" lIns="50800" bIns="50800" rIns="50800"/>
            <a:lstStyle/>
            <a:p>
              <a:pPr algn="ctr" marL="0" indent="0" lvl="0">
                <a:lnSpc>
                  <a:spcPts val="4114"/>
                </a:lnSpc>
                <a:spcBef>
                  <a:spcPct val="0"/>
                </a:spcBef>
              </a:pPr>
              <a:r>
                <a:rPr lang="en-US" sz="2981" i="true" spc="29">
                  <a:solidFill>
                    <a:srgbClr val="FFFFFF"/>
                  </a:solidFill>
                  <a:latin typeface="DM Sans Italics"/>
                  <a:ea typeface="DM Sans Italics"/>
                  <a:cs typeface="DM Sans Italics"/>
                  <a:sym typeface="DM Sans Italics"/>
                </a:rPr>
                <a:t>2</a:t>
              </a:r>
            </a:p>
          </p:txBody>
        </p:sp>
      </p:grpSp>
      <p:grpSp>
        <p:nvGrpSpPr>
          <p:cNvPr name="Group 21" id="21"/>
          <p:cNvGrpSpPr/>
          <p:nvPr/>
        </p:nvGrpSpPr>
        <p:grpSpPr>
          <a:xfrm rot="0">
            <a:off x="2179166" y="6572062"/>
            <a:ext cx="9034431" cy="2808103"/>
            <a:chOff x="0" y="0"/>
            <a:chExt cx="1744696" cy="542290"/>
          </a:xfrm>
        </p:grpSpPr>
        <p:sp>
          <p:nvSpPr>
            <p:cNvPr name="Freeform 22" id="22"/>
            <p:cNvSpPr/>
            <p:nvPr/>
          </p:nvSpPr>
          <p:spPr>
            <a:xfrm flipH="false" flipV="false" rot="0">
              <a:off x="0" y="0"/>
              <a:ext cx="1744696" cy="542290"/>
            </a:xfrm>
            <a:custGeom>
              <a:avLst/>
              <a:gdLst/>
              <a:ahLst/>
              <a:cxnLst/>
              <a:rect r="r" b="b" t="t" l="l"/>
              <a:pathLst>
                <a:path h="542290" w="1744696">
                  <a:moveTo>
                    <a:pt x="0" y="0"/>
                  </a:moveTo>
                  <a:lnTo>
                    <a:pt x="1744696" y="0"/>
                  </a:lnTo>
                  <a:lnTo>
                    <a:pt x="1744696" y="542290"/>
                  </a:lnTo>
                  <a:lnTo>
                    <a:pt x="0" y="542290"/>
                  </a:lnTo>
                  <a:close/>
                </a:path>
              </a:pathLst>
            </a:custGeom>
            <a:solidFill>
              <a:srgbClr val="000000">
                <a:alpha val="0"/>
              </a:srgbClr>
            </a:solidFill>
            <a:ln w="38100" cap="sq">
              <a:solidFill>
                <a:srgbClr val="286F17"/>
              </a:solidFill>
              <a:prstDash val="solid"/>
              <a:miter/>
            </a:ln>
          </p:spPr>
        </p:sp>
        <p:sp>
          <p:nvSpPr>
            <p:cNvPr name="TextBox 23" id="23"/>
            <p:cNvSpPr txBox="true"/>
            <p:nvPr/>
          </p:nvSpPr>
          <p:spPr>
            <a:xfrm>
              <a:off x="0" y="-19050"/>
              <a:ext cx="1744696" cy="561340"/>
            </a:xfrm>
            <a:prstGeom prst="rect">
              <a:avLst/>
            </a:prstGeom>
          </p:spPr>
          <p:txBody>
            <a:bodyPr anchor="ctr" rtlCol="false" tIns="50800" lIns="50800" bIns="50800" rIns="50800"/>
            <a:lstStyle/>
            <a:p>
              <a:pPr algn="ctr">
                <a:lnSpc>
                  <a:spcPts val="2859"/>
                </a:lnSpc>
              </a:pPr>
            </a:p>
          </p:txBody>
        </p:sp>
      </p:grpSp>
      <p:sp>
        <p:nvSpPr>
          <p:cNvPr name="TextBox 24" id="24"/>
          <p:cNvSpPr txBox="true"/>
          <p:nvPr/>
        </p:nvSpPr>
        <p:spPr>
          <a:xfrm rot="0">
            <a:off x="2510357" y="6819452"/>
            <a:ext cx="8512431" cy="1521333"/>
          </a:xfrm>
          <a:prstGeom prst="rect">
            <a:avLst/>
          </a:prstGeom>
        </p:spPr>
        <p:txBody>
          <a:bodyPr anchor="t" rtlCol="false" tIns="0" lIns="0" bIns="0" rIns="0">
            <a:spAutoFit/>
          </a:bodyPr>
          <a:lstStyle/>
          <a:p>
            <a:pPr algn="l" marL="474981" indent="-237491" lvl="1">
              <a:lnSpc>
                <a:spcPts val="3036"/>
              </a:lnSpc>
              <a:buFont typeface="Arial"/>
              <a:buChar char="•"/>
            </a:pPr>
            <a:r>
              <a:rPr lang="en-US" sz="2200" spc="215">
                <a:solidFill>
                  <a:srgbClr val="286F17"/>
                </a:solidFill>
                <a:latin typeface="DM Sans"/>
                <a:ea typeface="DM Sans"/>
                <a:cs typeface="DM Sans"/>
                <a:sym typeface="DM Sans"/>
              </a:rPr>
              <a:t>Memory Consumption: </a:t>
            </a:r>
          </a:p>
          <a:p>
            <a:pPr algn="l">
              <a:lnSpc>
                <a:spcPts val="3036"/>
              </a:lnSpc>
            </a:pPr>
            <a:r>
              <a:rPr lang="en-US" sz="2200" spc="215">
                <a:solidFill>
                  <a:srgbClr val="286F17"/>
                </a:solidFill>
                <a:latin typeface="DM Sans"/>
                <a:ea typeface="DM Sans"/>
                <a:cs typeface="DM Sans"/>
                <a:sym typeface="DM Sans"/>
              </a:rPr>
              <a:t>SVM requires storing and processing a large number of support vectors, which can lead to high memory usage, particularly for large datasets.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0" y="0"/>
            <a:ext cx="18288000" cy="3086100"/>
            <a:chOff x="0" y="0"/>
            <a:chExt cx="4816593" cy="812800"/>
          </a:xfrm>
        </p:grpSpPr>
        <p:sp>
          <p:nvSpPr>
            <p:cNvPr name="Freeform 4" id="4"/>
            <p:cNvSpPr/>
            <p:nvPr/>
          </p:nvSpPr>
          <p:spPr>
            <a:xfrm flipH="false" flipV="false" rot="0">
              <a:off x="0" y="0"/>
              <a:ext cx="4816592" cy="812800"/>
            </a:xfrm>
            <a:custGeom>
              <a:avLst/>
              <a:gdLst/>
              <a:ahLst/>
              <a:cxnLst/>
              <a:rect r="r" b="b" t="t" l="l"/>
              <a:pathLst>
                <a:path h="812800" w="4816592">
                  <a:moveTo>
                    <a:pt x="0" y="0"/>
                  </a:moveTo>
                  <a:lnTo>
                    <a:pt x="4816592" y="0"/>
                  </a:lnTo>
                  <a:lnTo>
                    <a:pt x="4816592" y="812800"/>
                  </a:lnTo>
                  <a:lnTo>
                    <a:pt x="0" y="812800"/>
                  </a:lnTo>
                  <a:close/>
                </a:path>
              </a:pathLst>
            </a:custGeom>
            <a:solidFill>
              <a:srgbClr val="286F17"/>
            </a:solidFill>
          </p:spPr>
        </p:sp>
        <p:sp>
          <p:nvSpPr>
            <p:cNvPr name="TextBox 5" id="5"/>
            <p:cNvSpPr txBox="true"/>
            <p:nvPr/>
          </p:nvSpPr>
          <p:spPr>
            <a:xfrm>
              <a:off x="0" y="-19050"/>
              <a:ext cx="4816593" cy="831850"/>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729397"/>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163000" y="3875422"/>
            <a:ext cx="4473739" cy="2443073"/>
          </a:xfrm>
          <a:custGeom>
            <a:avLst/>
            <a:gdLst/>
            <a:ahLst/>
            <a:cxnLst/>
            <a:rect r="r" b="b" t="t" l="l"/>
            <a:pathLst>
              <a:path h="2443073" w="4473739">
                <a:moveTo>
                  <a:pt x="0" y="0"/>
                </a:moveTo>
                <a:lnTo>
                  <a:pt x="4473739" y="0"/>
                </a:lnTo>
                <a:lnTo>
                  <a:pt x="4473739" y="2443073"/>
                </a:lnTo>
                <a:lnTo>
                  <a:pt x="0" y="2443073"/>
                </a:lnTo>
                <a:lnTo>
                  <a:pt x="0" y="0"/>
                </a:lnTo>
                <a:close/>
              </a:path>
            </a:pathLst>
          </a:custGeom>
          <a:blipFill>
            <a:blip r:embed="rId5"/>
            <a:stretch>
              <a:fillRect l="0" t="-11116" r="0" b="-11116"/>
            </a:stretch>
          </a:blipFill>
        </p:spPr>
      </p:sp>
      <p:grpSp>
        <p:nvGrpSpPr>
          <p:cNvPr name="Group 9" id="9"/>
          <p:cNvGrpSpPr/>
          <p:nvPr/>
        </p:nvGrpSpPr>
        <p:grpSpPr>
          <a:xfrm rot="0">
            <a:off x="2163000" y="3442596"/>
            <a:ext cx="4473739" cy="636748"/>
            <a:chOff x="0" y="0"/>
            <a:chExt cx="1178269" cy="167703"/>
          </a:xfrm>
        </p:grpSpPr>
        <p:sp>
          <p:nvSpPr>
            <p:cNvPr name="Freeform 10" id="10"/>
            <p:cNvSpPr/>
            <p:nvPr/>
          </p:nvSpPr>
          <p:spPr>
            <a:xfrm flipH="false" flipV="false" rot="0">
              <a:off x="0" y="0"/>
              <a:ext cx="1178269" cy="167703"/>
            </a:xfrm>
            <a:custGeom>
              <a:avLst/>
              <a:gdLst/>
              <a:ahLst/>
              <a:cxnLst/>
              <a:rect r="r" b="b" t="t" l="l"/>
              <a:pathLst>
                <a:path h="167703" w="1178269">
                  <a:moveTo>
                    <a:pt x="0" y="0"/>
                  </a:moveTo>
                  <a:lnTo>
                    <a:pt x="1178269" y="0"/>
                  </a:lnTo>
                  <a:lnTo>
                    <a:pt x="1178269" y="167703"/>
                  </a:lnTo>
                  <a:lnTo>
                    <a:pt x="0" y="167703"/>
                  </a:lnTo>
                  <a:close/>
                </a:path>
              </a:pathLst>
            </a:custGeom>
            <a:solidFill>
              <a:srgbClr val="1A1A1A"/>
            </a:solidFill>
          </p:spPr>
        </p:sp>
        <p:sp>
          <p:nvSpPr>
            <p:cNvPr name="TextBox 11" id="11"/>
            <p:cNvSpPr txBox="true"/>
            <p:nvPr/>
          </p:nvSpPr>
          <p:spPr>
            <a:xfrm>
              <a:off x="0" y="-57150"/>
              <a:ext cx="1178269" cy="224853"/>
            </a:xfrm>
            <a:prstGeom prst="rect">
              <a:avLst/>
            </a:prstGeom>
          </p:spPr>
          <p:txBody>
            <a:bodyPr anchor="ctr" rtlCol="false" tIns="50800" lIns="50800" bIns="50800" rIns="50800"/>
            <a:lstStyle/>
            <a:p>
              <a:pPr algn="ctr" marL="0" indent="0" lvl="0">
                <a:lnSpc>
                  <a:spcPts val="4114"/>
                </a:lnSpc>
                <a:spcBef>
                  <a:spcPct val="0"/>
                </a:spcBef>
              </a:pPr>
              <a:r>
                <a:rPr lang="en-US" sz="2981" i="true" spc="29">
                  <a:solidFill>
                    <a:srgbClr val="FFFFFF"/>
                  </a:solidFill>
                  <a:latin typeface="DM Sans Italics"/>
                  <a:ea typeface="DM Sans Italics"/>
                  <a:cs typeface="DM Sans Italics"/>
                  <a:sym typeface="DM Sans Italics"/>
                </a:rPr>
                <a:t>3</a:t>
              </a:r>
            </a:p>
          </p:txBody>
        </p:sp>
      </p:grpSp>
      <p:sp>
        <p:nvSpPr>
          <p:cNvPr name="TextBox 12" id="12"/>
          <p:cNvSpPr txBox="true"/>
          <p:nvPr/>
        </p:nvSpPr>
        <p:spPr>
          <a:xfrm rot="0">
            <a:off x="3690980" y="1232286"/>
            <a:ext cx="10906040" cy="1349947"/>
          </a:xfrm>
          <a:prstGeom prst="rect">
            <a:avLst/>
          </a:prstGeom>
        </p:spPr>
        <p:txBody>
          <a:bodyPr anchor="t" rtlCol="false" tIns="0" lIns="0" bIns="0" rIns="0">
            <a:spAutoFit/>
          </a:bodyPr>
          <a:lstStyle/>
          <a:p>
            <a:pPr algn="ctr">
              <a:lnSpc>
                <a:spcPts val="11082"/>
              </a:lnSpc>
            </a:pPr>
            <a:r>
              <a:rPr lang="en-US" b="true" sz="8030" spc="786">
                <a:solidFill>
                  <a:srgbClr val="FFFFFF"/>
                </a:solidFill>
                <a:latin typeface="Oswald Bold"/>
                <a:ea typeface="Oswald Bold"/>
                <a:cs typeface="Oswald Bold"/>
                <a:sym typeface="Oswald Bold"/>
              </a:rPr>
              <a:t>DISADVANTAGES</a:t>
            </a:r>
          </a:p>
        </p:txBody>
      </p:sp>
      <p:grpSp>
        <p:nvGrpSpPr>
          <p:cNvPr name="Group 13" id="13"/>
          <p:cNvGrpSpPr/>
          <p:nvPr/>
        </p:nvGrpSpPr>
        <p:grpSpPr>
          <a:xfrm rot="0">
            <a:off x="6893475" y="3510391"/>
            <a:ext cx="9034431" cy="2808103"/>
            <a:chOff x="0" y="0"/>
            <a:chExt cx="1744696" cy="542290"/>
          </a:xfrm>
        </p:grpSpPr>
        <p:sp>
          <p:nvSpPr>
            <p:cNvPr name="Freeform 14" id="14"/>
            <p:cNvSpPr/>
            <p:nvPr/>
          </p:nvSpPr>
          <p:spPr>
            <a:xfrm flipH="false" flipV="false" rot="0">
              <a:off x="0" y="0"/>
              <a:ext cx="1744696" cy="542290"/>
            </a:xfrm>
            <a:custGeom>
              <a:avLst/>
              <a:gdLst/>
              <a:ahLst/>
              <a:cxnLst/>
              <a:rect r="r" b="b" t="t" l="l"/>
              <a:pathLst>
                <a:path h="542290" w="1744696">
                  <a:moveTo>
                    <a:pt x="0" y="0"/>
                  </a:moveTo>
                  <a:lnTo>
                    <a:pt x="1744696" y="0"/>
                  </a:lnTo>
                  <a:lnTo>
                    <a:pt x="1744696" y="542290"/>
                  </a:lnTo>
                  <a:lnTo>
                    <a:pt x="0" y="542290"/>
                  </a:lnTo>
                  <a:close/>
                </a:path>
              </a:pathLst>
            </a:custGeom>
            <a:solidFill>
              <a:srgbClr val="000000">
                <a:alpha val="0"/>
              </a:srgbClr>
            </a:solidFill>
            <a:ln w="38100" cap="sq">
              <a:solidFill>
                <a:srgbClr val="286F17"/>
              </a:solidFill>
              <a:prstDash val="solid"/>
              <a:miter/>
            </a:ln>
          </p:spPr>
        </p:sp>
        <p:sp>
          <p:nvSpPr>
            <p:cNvPr name="TextBox 15" id="15"/>
            <p:cNvSpPr txBox="true"/>
            <p:nvPr/>
          </p:nvSpPr>
          <p:spPr>
            <a:xfrm>
              <a:off x="0" y="-19050"/>
              <a:ext cx="1744696" cy="561340"/>
            </a:xfrm>
            <a:prstGeom prst="rect">
              <a:avLst/>
            </a:prstGeom>
          </p:spPr>
          <p:txBody>
            <a:bodyPr anchor="ctr" rtlCol="false" tIns="50800" lIns="50800" bIns="50800" rIns="50800"/>
            <a:lstStyle/>
            <a:p>
              <a:pPr algn="ctr">
                <a:lnSpc>
                  <a:spcPts val="2859"/>
                </a:lnSpc>
              </a:pPr>
            </a:p>
          </p:txBody>
        </p:sp>
      </p:grpSp>
      <p:sp>
        <p:nvSpPr>
          <p:cNvPr name="TextBox 16" id="16"/>
          <p:cNvSpPr txBox="true"/>
          <p:nvPr/>
        </p:nvSpPr>
        <p:spPr>
          <a:xfrm rot="0">
            <a:off x="7224667" y="3757781"/>
            <a:ext cx="8900334" cy="1902333"/>
          </a:xfrm>
          <a:prstGeom prst="rect">
            <a:avLst/>
          </a:prstGeom>
        </p:spPr>
        <p:txBody>
          <a:bodyPr anchor="t" rtlCol="false" tIns="0" lIns="0" bIns="0" rIns="0">
            <a:spAutoFit/>
          </a:bodyPr>
          <a:lstStyle/>
          <a:p>
            <a:pPr algn="l" marL="474979" indent="-237490" lvl="1">
              <a:lnSpc>
                <a:spcPts val="3035"/>
              </a:lnSpc>
              <a:buFont typeface="Arial"/>
              <a:buChar char="•"/>
            </a:pPr>
            <a:r>
              <a:rPr lang="en-US" b="true" sz="2199" spc="215">
                <a:solidFill>
                  <a:srgbClr val="286F17"/>
                </a:solidFill>
                <a:latin typeface="DM Sans Bold"/>
                <a:ea typeface="DM Sans Bold"/>
                <a:cs typeface="DM Sans Bold"/>
                <a:sym typeface="DM Sans Bold"/>
              </a:rPr>
              <a:t>Difficult to Interpret: </a:t>
            </a:r>
          </a:p>
          <a:p>
            <a:pPr algn="l">
              <a:lnSpc>
                <a:spcPts val="3035"/>
              </a:lnSpc>
            </a:pPr>
            <a:r>
              <a:rPr lang="en-US" sz="2199" spc="215">
                <a:solidFill>
                  <a:srgbClr val="286F17"/>
                </a:solidFill>
                <a:latin typeface="DM Sans"/>
                <a:ea typeface="DM Sans"/>
                <a:cs typeface="DM Sans"/>
                <a:sym typeface="DM Sans"/>
              </a:rPr>
              <a:t>SVM models, particularly those with non-linear kernels, are often considered black-box models, making them difficult to interpret and understand, which can be a drawback when transparency is required.</a:t>
            </a:r>
          </a:p>
        </p:txBody>
      </p:sp>
      <p:sp>
        <p:nvSpPr>
          <p:cNvPr name="Freeform 17" id="17"/>
          <p:cNvSpPr/>
          <p:nvPr/>
        </p:nvSpPr>
        <p:spPr>
          <a:xfrm flipH="false" flipV="false" rot="0">
            <a:off x="11410691" y="6937093"/>
            <a:ext cx="4473739" cy="2443073"/>
          </a:xfrm>
          <a:custGeom>
            <a:avLst/>
            <a:gdLst/>
            <a:ahLst/>
            <a:cxnLst/>
            <a:rect r="r" b="b" t="t" l="l"/>
            <a:pathLst>
              <a:path h="2443073" w="4473739">
                <a:moveTo>
                  <a:pt x="0" y="0"/>
                </a:moveTo>
                <a:lnTo>
                  <a:pt x="4473739" y="0"/>
                </a:lnTo>
                <a:lnTo>
                  <a:pt x="4473739" y="2443073"/>
                </a:lnTo>
                <a:lnTo>
                  <a:pt x="0" y="2443073"/>
                </a:lnTo>
                <a:lnTo>
                  <a:pt x="0" y="0"/>
                </a:lnTo>
                <a:close/>
              </a:path>
            </a:pathLst>
          </a:custGeom>
          <a:blipFill>
            <a:blip r:embed="rId6"/>
            <a:stretch>
              <a:fillRect l="0" t="-18669" r="0" b="-18669"/>
            </a:stretch>
          </a:blipFill>
        </p:spPr>
      </p:sp>
      <p:grpSp>
        <p:nvGrpSpPr>
          <p:cNvPr name="Group 18" id="18"/>
          <p:cNvGrpSpPr/>
          <p:nvPr/>
        </p:nvGrpSpPr>
        <p:grpSpPr>
          <a:xfrm rot="0">
            <a:off x="11410691" y="6504266"/>
            <a:ext cx="4473739" cy="636748"/>
            <a:chOff x="0" y="0"/>
            <a:chExt cx="1178269" cy="167703"/>
          </a:xfrm>
        </p:grpSpPr>
        <p:sp>
          <p:nvSpPr>
            <p:cNvPr name="Freeform 19" id="19"/>
            <p:cNvSpPr/>
            <p:nvPr/>
          </p:nvSpPr>
          <p:spPr>
            <a:xfrm flipH="false" flipV="false" rot="0">
              <a:off x="0" y="0"/>
              <a:ext cx="1178269" cy="167703"/>
            </a:xfrm>
            <a:custGeom>
              <a:avLst/>
              <a:gdLst/>
              <a:ahLst/>
              <a:cxnLst/>
              <a:rect r="r" b="b" t="t" l="l"/>
              <a:pathLst>
                <a:path h="167703" w="1178269">
                  <a:moveTo>
                    <a:pt x="0" y="0"/>
                  </a:moveTo>
                  <a:lnTo>
                    <a:pt x="1178269" y="0"/>
                  </a:lnTo>
                  <a:lnTo>
                    <a:pt x="1178269" y="167703"/>
                  </a:lnTo>
                  <a:lnTo>
                    <a:pt x="0" y="167703"/>
                  </a:lnTo>
                  <a:close/>
                </a:path>
              </a:pathLst>
            </a:custGeom>
            <a:solidFill>
              <a:srgbClr val="1A1A1A"/>
            </a:solidFill>
          </p:spPr>
        </p:sp>
        <p:sp>
          <p:nvSpPr>
            <p:cNvPr name="TextBox 20" id="20"/>
            <p:cNvSpPr txBox="true"/>
            <p:nvPr/>
          </p:nvSpPr>
          <p:spPr>
            <a:xfrm>
              <a:off x="0" y="-57150"/>
              <a:ext cx="1178269" cy="224853"/>
            </a:xfrm>
            <a:prstGeom prst="rect">
              <a:avLst/>
            </a:prstGeom>
          </p:spPr>
          <p:txBody>
            <a:bodyPr anchor="ctr" rtlCol="false" tIns="50800" lIns="50800" bIns="50800" rIns="50800"/>
            <a:lstStyle/>
            <a:p>
              <a:pPr algn="ctr" marL="0" indent="0" lvl="0">
                <a:lnSpc>
                  <a:spcPts val="4114"/>
                </a:lnSpc>
                <a:spcBef>
                  <a:spcPct val="0"/>
                </a:spcBef>
              </a:pPr>
              <a:r>
                <a:rPr lang="en-US" sz="2981" i="true" spc="29">
                  <a:solidFill>
                    <a:srgbClr val="FFFFFF"/>
                  </a:solidFill>
                  <a:latin typeface="DM Sans Italics"/>
                  <a:ea typeface="DM Sans Italics"/>
                  <a:cs typeface="DM Sans Italics"/>
                  <a:sym typeface="DM Sans Italics"/>
                </a:rPr>
                <a:t>4</a:t>
              </a:r>
            </a:p>
          </p:txBody>
        </p:sp>
      </p:grpSp>
      <p:grpSp>
        <p:nvGrpSpPr>
          <p:cNvPr name="Group 21" id="21"/>
          <p:cNvGrpSpPr/>
          <p:nvPr/>
        </p:nvGrpSpPr>
        <p:grpSpPr>
          <a:xfrm rot="0">
            <a:off x="2179166" y="6572062"/>
            <a:ext cx="9034431" cy="2808103"/>
            <a:chOff x="0" y="0"/>
            <a:chExt cx="1744696" cy="542290"/>
          </a:xfrm>
        </p:grpSpPr>
        <p:sp>
          <p:nvSpPr>
            <p:cNvPr name="Freeform 22" id="22"/>
            <p:cNvSpPr/>
            <p:nvPr/>
          </p:nvSpPr>
          <p:spPr>
            <a:xfrm flipH="false" flipV="false" rot="0">
              <a:off x="0" y="0"/>
              <a:ext cx="1744696" cy="542290"/>
            </a:xfrm>
            <a:custGeom>
              <a:avLst/>
              <a:gdLst/>
              <a:ahLst/>
              <a:cxnLst/>
              <a:rect r="r" b="b" t="t" l="l"/>
              <a:pathLst>
                <a:path h="542290" w="1744696">
                  <a:moveTo>
                    <a:pt x="0" y="0"/>
                  </a:moveTo>
                  <a:lnTo>
                    <a:pt x="1744696" y="0"/>
                  </a:lnTo>
                  <a:lnTo>
                    <a:pt x="1744696" y="542290"/>
                  </a:lnTo>
                  <a:lnTo>
                    <a:pt x="0" y="542290"/>
                  </a:lnTo>
                  <a:close/>
                </a:path>
              </a:pathLst>
            </a:custGeom>
            <a:solidFill>
              <a:srgbClr val="000000">
                <a:alpha val="0"/>
              </a:srgbClr>
            </a:solidFill>
            <a:ln w="38100" cap="sq">
              <a:solidFill>
                <a:srgbClr val="286F17"/>
              </a:solidFill>
              <a:prstDash val="solid"/>
              <a:miter/>
            </a:ln>
          </p:spPr>
        </p:sp>
        <p:sp>
          <p:nvSpPr>
            <p:cNvPr name="TextBox 23" id="23"/>
            <p:cNvSpPr txBox="true"/>
            <p:nvPr/>
          </p:nvSpPr>
          <p:spPr>
            <a:xfrm>
              <a:off x="0" y="-19050"/>
              <a:ext cx="1744696" cy="561340"/>
            </a:xfrm>
            <a:prstGeom prst="rect">
              <a:avLst/>
            </a:prstGeom>
          </p:spPr>
          <p:txBody>
            <a:bodyPr anchor="ctr" rtlCol="false" tIns="50800" lIns="50800" bIns="50800" rIns="50800"/>
            <a:lstStyle/>
            <a:p>
              <a:pPr algn="ctr">
                <a:lnSpc>
                  <a:spcPts val="2859"/>
                </a:lnSpc>
              </a:pPr>
            </a:p>
          </p:txBody>
        </p:sp>
      </p:grpSp>
      <p:sp>
        <p:nvSpPr>
          <p:cNvPr name="TextBox 24" id="24"/>
          <p:cNvSpPr txBox="true"/>
          <p:nvPr/>
        </p:nvSpPr>
        <p:spPr>
          <a:xfrm rot="0">
            <a:off x="2510357" y="6819452"/>
            <a:ext cx="8512431" cy="2283333"/>
          </a:xfrm>
          <a:prstGeom prst="rect">
            <a:avLst/>
          </a:prstGeom>
        </p:spPr>
        <p:txBody>
          <a:bodyPr anchor="t" rtlCol="false" tIns="0" lIns="0" bIns="0" rIns="0">
            <a:spAutoFit/>
          </a:bodyPr>
          <a:lstStyle/>
          <a:p>
            <a:pPr algn="l" marL="474981" indent="-237491" lvl="1">
              <a:lnSpc>
                <a:spcPts val="3036"/>
              </a:lnSpc>
              <a:buFont typeface="Arial"/>
              <a:buChar char="•"/>
            </a:pPr>
            <a:r>
              <a:rPr lang="en-US" b="true" sz="2200" spc="215">
                <a:solidFill>
                  <a:srgbClr val="286F17"/>
                </a:solidFill>
                <a:latin typeface="DM Sans Bold"/>
                <a:ea typeface="DM Sans Bold"/>
                <a:cs typeface="DM Sans Bold"/>
                <a:sym typeface="DM Sans Bold"/>
              </a:rPr>
              <a:t>Limited Flexibility: </a:t>
            </a:r>
          </a:p>
          <a:p>
            <a:pPr algn="l">
              <a:lnSpc>
                <a:spcPts val="3036"/>
              </a:lnSpc>
            </a:pPr>
            <a:r>
              <a:rPr lang="en-US" sz="2200" spc="215">
                <a:solidFill>
                  <a:srgbClr val="286F17"/>
                </a:solidFill>
                <a:latin typeface="DM Sans"/>
                <a:ea typeface="DM Sans"/>
                <a:cs typeface="DM Sans"/>
                <a:sym typeface="DM Sans"/>
              </a:rPr>
              <a:t>SVMs are less flexible in capturing complex patterns in data compared to some other machine learning models, such as neural networks, which might limit their effectiveness in complex, multi-dimensional problems like career recommendations.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86F17"/>
        </a:solidFill>
      </p:bgPr>
    </p:bg>
    <p:spTree>
      <p:nvGrpSpPr>
        <p:cNvPr id="1" name=""/>
        <p:cNvGrpSpPr/>
        <p:nvPr/>
      </p:nvGrpSpPr>
      <p:grpSpPr>
        <a:xfrm>
          <a:off x="0" y="0"/>
          <a:ext cx="0" cy="0"/>
          <a:chOff x="0" y="0"/>
          <a:chExt cx="0" cy="0"/>
        </a:xfrm>
      </p:grpSpPr>
      <p:sp>
        <p:nvSpPr>
          <p:cNvPr name="Freeform 2" id="2"/>
          <p:cNvSpPr/>
          <p:nvPr/>
        </p:nvSpPr>
        <p:spPr>
          <a:xfrm flipH="false" flipV="false" rot="0">
            <a:off x="-8169367" y="-10264537"/>
            <a:ext cx="15841853" cy="16255633"/>
          </a:xfrm>
          <a:custGeom>
            <a:avLst/>
            <a:gdLst/>
            <a:ahLst/>
            <a:cxnLst/>
            <a:rect r="r" b="b" t="t" l="l"/>
            <a:pathLst>
              <a:path h="16255633" w="15841853">
                <a:moveTo>
                  <a:pt x="0" y="0"/>
                </a:moveTo>
                <a:lnTo>
                  <a:pt x="15841853" y="0"/>
                </a:lnTo>
                <a:lnTo>
                  <a:pt x="15841853" y="16255632"/>
                </a:lnTo>
                <a:lnTo>
                  <a:pt x="0" y="162556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76897" y="3279484"/>
            <a:ext cx="15575055" cy="4482572"/>
          </a:xfrm>
          <a:prstGeom prst="rect">
            <a:avLst/>
          </a:prstGeom>
        </p:spPr>
        <p:txBody>
          <a:bodyPr anchor="t" rtlCol="false" tIns="0" lIns="0" bIns="0" rIns="0">
            <a:spAutoFit/>
          </a:bodyPr>
          <a:lstStyle/>
          <a:p>
            <a:pPr algn="ctr">
              <a:lnSpc>
                <a:spcPts val="18017"/>
              </a:lnSpc>
            </a:pPr>
            <a:r>
              <a:rPr lang="en-US" b="true" sz="13056" spc="1279">
                <a:solidFill>
                  <a:srgbClr val="FFFFFF"/>
                </a:solidFill>
                <a:latin typeface="Oswald Bold"/>
                <a:ea typeface="Oswald Bold"/>
                <a:cs typeface="Oswald Bold"/>
                <a:sym typeface="Oswald Bold"/>
              </a:rPr>
              <a:t>PROPOSED </a:t>
            </a:r>
          </a:p>
          <a:p>
            <a:pPr algn="ctr">
              <a:lnSpc>
                <a:spcPts val="18017"/>
              </a:lnSpc>
            </a:pPr>
            <a:r>
              <a:rPr lang="en-US" b="true" sz="13056" spc="1279">
                <a:solidFill>
                  <a:srgbClr val="FFFFFF"/>
                </a:solidFill>
                <a:latin typeface="Oswald Bold"/>
                <a:ea typeface="Oswald Bold"/>
                <a:cs typeface="Oswald Bold"/>
                <a:sym typeface="Oswald Bold"/>
              </a:rPr>
              <a:t>SYSTEM</a:t>
            </a:r>
          </a:p>
        </p:txBody>
      </p:sp>
      <p:sp>
        <p:nvSpPr>
          <p:cNvPr name="Freeform 4" id="4"/>
          <p:cNvSpPr/>
          <p:nvPr/>
        </p:nvSpPr>
        <p:spPr>
          <a:xfrm flipH="false" flipV="false" rot="0">
            <a:off x="13447294" y="-3843198"/>
            <a:ext cx="15841853" cy="16255633"/>
          </a:xfrm>
          <a:custGeom>
            <a:avLst/>
            <a:gdLst/>
            <a:ahLst/>
            <a:cxnLst/>
            <a:rect r="r" b="b" t="t" l="l"/>
            <a:pathLst>
              <a:path h="16255633" w="15841853">
                <a:moveTo>
                  <a:pt x="0" y="0"/>
                </a:moveTo>
                <a:lnTo>
                  <a:pt x="15841853" y="0"/>
                </a:lnTo>
                <a:lnTo>
                  <a:pt x="15841853" y="16255632"/>
                </a:lnTo>
                <a:lnTo>
                  <a:pt x="0" y="162556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4976613" y="337474"/>
            <a:ext cx="2982929" cy="9570246"/>
            <a:chOff x="0" y="0"/>
            <a:chExt cx="785627" cy="2520559"/>
          </a:xfrm>
        </p:grpSpPr>
        <p:sp>
          <p:nvSpPr>
            <p:cNvPr name="Freeform 4" id="4"/>
            <p:cNvSpPr/>
            <p:nvPr/>
          </p:nvSpPr>
          <p:spPr>
            <a:xfrm flipH="false" flipV="false" rot="0">
              <a:off x="0" y="0"/>
              <a:ext cx="785627" cy="2520559"/>
            </a:xfrm>
            <a:custGeom>
              <a:avLst/>
              <a:gdLst/>
              <a:ahLst/>
              <a:cxnLst/>
              <a:rect r="r" b="b" t="t" l="l"/>
              <a:pathLst>
                <a:path h="2520559" w="785627">
                  <a:moveTo>
                    <a:pt x="0" y="0"/>
                  </a:moveTo>
                  <a:lnTo>
                    <a:pt x="785627" y="0"/>
                  </a:lnTo>
                  <a:lnTo>
                    <a:pt x="785627" y="2520559"/>
                  </a:lnTo>
                  <a:lnTo>
                    <a:pt x="0" y="2520559"/>
                  </a:lnTo>
                  <a:close/>
                </a:path>
              </a:pathLst>
            </a:custGeom>
            <a:solidFill>
              <a:srgbClr val="CCCCCC"/>
            </a:solidFill>
          </p:spPr>
        </p:sp>
        <p:sp>
          <p:nvSpPr>
            <p:cNvPr name="TextBox 5" id="5"/>
            <p:cNvSpPr txBox="true"/>
            <p:nvPr/>
          </p:nvSpPr>
          <p:spPr>
            <a:xfrm>
              <a:off x="0" y="-19050"/>
              <a:ext cx="785627" cy="2539609"/>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2142191" y="4828880"/>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sp>
        <p:nvSpPr>
          <p:cNvPr name="Freeform 7" id="7"/>
          <p:cNvSpPr/>
          <p:nvPr/>
        </p:nvSpPr>
        <p:spPr>
          <a:xfrm flipH="false" flipV="false" rot="0">
            <a:off x="15505717" y="1018248"/>
            <a:ext cx="2020342" cy="8208697"/>
          </a:xfrm>
          <a:custGeom>
            <a:avLst/>
            <a:gdLst/>
            <a:ahLst/>
            <a:cxnLst/>
            <a:rect r="r" b="b" t="t" l="l"/>
            <a:pathLst>
              <a:path h="8208697" w="2020342">
                <a:moveTo>
                  <a:pt x="0" y="0"/>
                </a:moveTo>
                <a:lnTo>
                  <a:pt x="2020341" y="0"/>
                </a:lnTo>
                <a:lnTo>
                  <a:pt x="2020341" y="8208697"/>
                </a:lnTo>
                <a:lnTo>
                  <a:pt x="0" y="8208697"/>
                </a:lnTo>
                <a:lnTo>
                  <a:pt x="0" y="0"/>
                </a:lnTo>
                <a:close/>
              </a:path>
            </a:pathLst>
          </a:custGeom>
          <a:blipFill>
            <a:blip r:embed="rId4"/>
            <a:stretch>
              <a:fillRect l="-311962" t="0" r="-311962" b="0"/>
            </a:stretch>
          </a:blipFill>
        </p:spPr>
      </p:sp>
      <p:grpSp>
        <p:nvGrpSpPr>
          <p:cNvPr name="Group 8" id="8"/>
          <p:cNvGrpSpPr/>
          <p:nvPr/>
        </p:nvGrpSpPr>
        <p:grpSpPr>
          <a:xfrm rot="0">
            <a:off x="2142191" y="2970632"/>
            <a:ext cx="11265441" cy="6773299"/>
            <a:chOff x="0" y="0"/>
            <a:chExt cx="4316278" cy="2595144"/>
          </a:xfrm>
        </p:grpSpPr>
        <p:sp>
          <p:nvSpPr>
            <p:cNvPr name="Freeform 9" id="9"/>
            <p:cNvSpPr/>
            <p:nvPr/>
          </p:nvSpPr>
          <p:spPr>
            <a:xfrm flipH="false" flipV="false" rot="0">
              <a:off x="0" y="0"/>
              <a:ext cx="4316278" cy="2595144"/>
            </a:xfrm>
            <a:custGeom>
              <a:avLst/>
              <a:gdLst/>
              <a:ahLst/>
              <a:cxnLst/>
              <a:rect r="r" b="b" t="t" l="l"/>
              <a:pathLst>
                <a:path h="2595144" w="4316278">
                  <a:moveTo>
                    <a:pt x="0" y="0"/>
                  </a:moveTo>
                  <a:lnTo>
                    <a:pt x="4316278" y="0"/>
                  </a:lnTo>
                  <a:lnTo>
                    <a:pt x="4316278" y="2595144"/>
                  </a:lnTo>
                  <a:lnTo>
                    <a:pt x="0" y="2595144"/>
                  </a:lnTo>
                  <a:close/>
                </a:path>
              </a:pathLst>
            </a:custGeom>
            <a:solidFill>
              <a:srgbClr val="EFEFEF"/>
            </a:solidFill>
          </p:spPr>
        </p:sp>
        <p:sp>
          <p:nvSpPr>
            <p:cNvPr name="TextBox 10" id="10"/>
            <p:cNvSpPr txBox="true"/>
            <p:nvPr/>
          </p:nvSpPr>
          <p:spPr>
            <a:xfrm>
              <a:off x="0" y="-19050"/>
              <a:ext cx="4316278" cy="2614194"/>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700595" y="3396305"/>
            <a:ext cx="1156649" cy="1173721"/>
          </a:xfrm>
          <a:custGeom>
            <a:avLst/>
            <a:gdLst/>
            <a:ahLst/>
            <a:cxnLst/>
            <a:rect r="r" b="b" t="t" l="l"/>
            <a:pathLst>
              <a:path h="1173721" w="1156649">
                <a:moveTo>
                  <a:pt x="0" y="0"/>
                </a:moveTo>
                <a:lnTo>
                  <a:pt x="1156649" y="0"/>
                </a:lnTo>
                <a:lnTo>
                  <a:pt x="1156649" y="1173721"/>
                </a:lnTo>
                <a:lnTo>
                  <a:pt x="0" y="11737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2142191" y="888605"/>
            <a:ext cx="12548672" cy="1686342"/>
          </a:xfrm>
          <a:prstGeom prst="rect">
            <a:avLst/>
          </a:prstGeom>
        </p:spPr>
        <p:txBody>
          <a:bodyPr anchor="t" rtlCol="false" tIns="0" lIns="0" bIns="0" rIns="0">
            <a:spAutoFit/>
          </a:bodyPr>
          <a:lstStyle/>
          <a:p>
            <a:pPr algn="l">
              <a:lnSpc>
                <a:spcPts val="13774"/>
              </a:lnSpc>
            </a:pPr>
            <a:r>
              <a:rPr lang="en-US" b="true" sz="9981" spc="978">
                <a:solidFill>
                  <a:srgbClr val="286F17"/>
                </a:solidFill>
                <a:latin typeface="Oswald Bold"/>
                <a:ea typeface="Oswald Bold"/>
                <a:cs typeface="Oswald Bold"/>
                <a:sym typeface="Oswald Bold"/>
              </a:rPr>
              <a:t>PROPOSED SYSTEM</a:t>
            </a:r>
          </a:p>
        </p:txBody>
      </p:sp>
      <p:sp>
        <p:nvSpPr>
          <p:cNvPr name="TextBox 13" id="13"/>
          <p:cNvSpPr txBox="true"/>
          <p:nvPr/>
        </p:nvSpPr>
        <p:spPr>
          <a:xfrm rot="0">
            <a:off x="2474248" y="3358205"/>
            <a:ext cx="11874084" cy="5350764"/>
          </a:xfrm>
          <a:prstGeom prst="rect">
            <a:avLst/>
          </a:prstGeom>
        </p:spPr>
        <p:txBody>
          <a:bodyPr anchor="t" rtlCol="false" tIns="0" lIns="0" bIns="0" rIns="0">
            <a:spAutoFit/>
          </a:bodyPr>
          <a:lstStyle/>
          <a:p>
            <a:pPr algn="just" marL="561341" indent="-280670" lvl="1">
              <a:lnSpc>
                <a:spcPts val="3588"/>
              </a:lnSpc>
              <a:buFont typeface="Arial"/>
              <a:buChar char="•"/>
            </a:pPr>
            <a:r>
              <a:rPr lang="en-US" sz="2600" spc="254">
                <a:solidFill>
                  <a:srgbClr val="286F17"/>
                </a:solidFill>
                <a:latin typeface="DM Sans"/>
                <a:ea typeface="DM Sans"/>
                <a:cs typeface="DM Sans"/>
                <a:sym typeface="DM Sans"/>
              </a:rPr>
              <a:t>The proposed system is an AI-powered chatbot designed to assist farmers by offering personalized crop recommendations based on soil parameters and accurate plant disease prediction using image analysis.</a:t>
            </a:r>
          </a:p>
          <a:p>
            <a:pPr algn="just" marL="561341" indent="-280670" lvl="1">
              <a:lnSpc>
                <a:spcPts val="3588"/>
              </a:lnSpc>
              <a:buFont typeface="Arial"/>
              <a:buChar char="•"/>
            </a:pPr>
            <a:r>
              <a:rPr lang="en-US" sz="2600" spc="254">
                <a:solidFill>
                  <a:srgbClr val="286F17"/>
                </a:solidFill>
                <a:latin typeface="DM Sans"/>
                <a:ea typeface="DM Sans"/>
                <a:cs typeface="DM Sans"/>
                <a:sym typeface="DM Sans"/>
              </a:rPr>
              <a:t> For crop recommendations, the system will utilize the XGBoost algorithm, known for its efficiency and high performance in handling structured data.</a:t>
            </a:r>
          </a:p>
          <a:p>
            <a:pPr algn="just" marL="561341" indent="-280670" lvl="1">
              <a:lnSpc>
                <a:spcPts val="3588"/>
              </a:lnSpc>
              <a:buFont typeface="Arial"/>
              <a:buChar char="•"/>
            </a:pPr>
            <a:r>
              <a:rPr lang="en-US" sz="2600" spc="254">
                <a:solidFill>
                  <a:srgbClr val="286F17"/>
                </a:solidFill>
                <a:latin typeface="DM Sans"/>
                <a:ea typeface="DM Sans"/>
                <a:cs typeface="DM Sans"/>
                <a:sym typeface="DM Sans"/>
              </a:rPr>
              <a:t> XGBoost will analyze soil attributes such as pH, moisture content, and nutrient levels to recommend the best-suited crops for a farmer's land, ensuring optimal yields and sustainable farming practices.</a:t>
            </a:r>
          </a:p>
          <a:p>
            <a:pPr algn="just">
              <a:lnSpc>
                <a:spcPts val="3588"/>
              </a:lnSpc>
            </a:pPr>
          </a:p>
        </p:txBody>
      </p:sp>
      <p:sp>
        <p:nvSpPr>
          <p:cNvPr name="Freeform 14" id="14"/>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4976613" y="337474"/>
            <a:ext cx="2982929" cy="9570246"/>
            <a:chOff x="0" y="0"/>
            <a:chExt cx="785627" cy="2520559"/>
          </a:xfrm>
        </p:grpSpPr>
        <p:sp>
          <p:nvSpPr>
            <p:cNvPr name="Freeform 4" id="4"/>
            <p:cNvSpPr/>
            <p:nvPr/>
          </p:nvSpPr>
          <p:spPr>
            <a:xfrm flipH="false" flipV="false" rot="0">
              <a:off x="0" y="0"/>
              <a:ext cx="785627" cy="2520559"/>
            </a:xfrm>
            <a:custGeom>
              <a:avLst/>
              <a:gdLst/>
              <a:ahLst/>
              <a:cxnLst/>
              <a:rect r="r" b="b" t="t" l="l"/>
              <a:pathLst>
                <a:path h="2520559" w="785627">
                  <a:moveTo>
                    <a:pt x="0" y="0"/>
                  </a:moveTo>
                  <a:lnTo>
                    <a:pt x="785627" y="0"/>
                  </a:lnTo>
                  <a:lnTo>
                    <a:pt x="785627" y="2520559"/>
                  </a:lnTo>
                  <a:lnTo>
                    <a:pt x="0" y="2520559"/>
                  </a:lnTo>
                  <a:close/>
                </a:path>
              </a:pathLst>
            </a:custGeom>
            <a:solidFill>
              <a:srgbClr val="CCCCCC"/>
            </a:solidFill>
          </p:spPr>
        </p:sp>
        <p:sp>
          <p:nvSpPr>
            <p:cNvPr name="TextBox 5" id="5"/>
            <p:cNvSpPr txBox="true"/>
            <p:nvPr/>
          </p:nvSpPr>
          <p:spPr>
            <a:xfrm>
              <a:off x="0" y="-19050"/>
              <a:ext cx="785627" cy="2539609"/>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2142191" y="4828880"/>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sp>
        <p:nvSpPr>
          <p:cNvPr name="Freeform 7" id="7"/>
          <p:cNvSpPr/>
          <p:nvPr/>
        </p:nvSpPr>
        <p:spPr>
          <a:xfrm flipH="false" flipV="false" rot="0">
            <a:off x="15811268" y="1018248"/>
            <a:ext cx="1714790" cy="8208697"/>
          </a:xfrm>
          <a:custGeom>
            <a:avLst/>
            <a:gdLst/>
            <a:ahLst/>
            <a:cxnLst/>
            <a:rect r="r" b="b" t="t" l="l"/>
            <a:pathLst>
              <a:path h="8208697" w="1714790">
                <a:moveTo>
                  <a:pt x="0" y="0"/>
                </a:moveTo>
                <a:lnTo>
                  <a:pt x="1714790" y="0"/>
                </a:lnTo>
                <a:lnTo>
                  <a:pt x="1714790" y="8208697"/>
                </a:lnTo>
                <a:lnTo>
                  <a:pt x="0" y="8208697"/>
                </a:lnTo>
                <a:lnTo>
                  <a:pt x="0" y="0"/>
                </a:lnTo>
                <a:close/>
              </a:path>
            </a:pathLst>
          </a:custGeom>
          <a:blipFill>
            <a:blip r:embed="rId4"/>
            <a:stretch>
              <a:fillRect l="-308576" t="0" r="-308576" b="0"/>
            </a:stretch>
          </a:blipFill>
        </p:spPr>
      </p:sp>
      <p:grpSp>
        <p:nvGrpSpPr>
          <p:cNvPr name="Group 8" id="8"/>
          <p:cNvGrpSpPr/>
          <p:nvPr/>
        </p:nvGrpSpPr>
        <p:grpSpPr>
          <a:xfrm rot="0">
            <a:off x="2142191" y="2970632"/>
            <a:ext cx="12548672" cy="6773299"/>
            <a:chOff x="0" y="0"/>
            <a:chExt cx="4807939" cy="2595144"/>
          </a:xfrm>
        </p:grpSpPr>
        <p:sp>
          <p:nvSpPr>
            <p:cNvPr name="Freeform 9" id="9"/>
            <p:cNvSpPr/>
            <p:nvPr/>
          </p:nvSpPr>
          <p:spPr>
            <a:xfrm flipH="false" flipV="false" rot="0">
              <a:off x="0" y="0"/>
              <a:ext cx="4807939" cy="2595144"/>
            </a:xfrm>
            <a:custGeom>
              <a:avLst/>
              <a:gdLst/>
              <a:ahLst/>
              <a:cxnLst/>
              <a:rect r="r" b="b" t="t" l="l"/>
              <a:pathLst>
                <a:path h="2595144" w="4807939">
                  <a:moveTo>
                    <a:pt x="0" y="0"/>
                  </a:moveTo>
                  <a:lnTo>
                    <a:pt x="4807939" y="0"/>
                  </a:lnTo>
                  <a:lnTo>
                    <a:pt x="4807939" y="2595144"/>
                  </a:lnTo>
                  <a:lnTo>
                    <a:pt x="0" y="2595144"/>
                  </a:lnTo>
                  <a:close/>
                </a:path>
              </a:pathLst>
            </a:custGeom>
            <a:solidFill>
              <a:srgbClr val="EFEFEF"/>
            </a:solidFill>
          </p:spPr>
        </p:sp>
        <p:sp>
          <p:nvSpPr>
            <p:cNvPr name="TextBox 10" id="10"/>
            <p:cNvSpPr txBox="true"/>
            <p:nvPr/>
          </p:nvSpPr>
          <p:spPr>
            <a:xfrm>
              <a:off x="0" y="-19050"/>
              <a:ext cx="4807939" cy="2614194"/>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700595" y="3396305"/>
            <a:ext cx="1156649" cy="1173721"/>
          </a:xfrm>
          <a:custGeom>
            <a:avLst/>
            <a:gdLst/>
            <a:ahLst/>
            <a:cxnLst/>
            <a:rect r="r" b="b" t="t" l="l"/>
            <a:pathLst>
              <a:path h="1173721" w="1156649">
                <a:moveTo>
                  <a:pt x="0" y="0"/>
                </a:moveTo>
                <a:lnTo>
                  <a:pt x="1156649" y="0"/>
                </a:lnTo>
                <a:lnTo>
                  <a:pt x="1156649" y="1173721"/>
                </a:lnTo>
                <a:lnTo>
                  <a:pt x="0" y="11737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2142191" y="888605"/>
            <a:ext cx="12548672" cy="1686342"/>
          </a:xfrm>
          <a:prstGeom prst="rect">
            <a:avLst/>
          </a:prstGeom>
        </p:spPr>
        <p:txBody>
          <a:bodyPr anchor="t" rtlCol="false" tIns="0" lIns="0" bIns="0" rIns="0">
            <a:spAutoFit/>
          </a:bodyPr>
          <a:lstStyle/>
          <a:p>
            <a:pPr algn="l">
              <a:lnSpc>
                <a:spcPts val="13774"/>
              </a:lnSpc>
            </a:pPr>
            <a:r>
              <a:rPr lang="en-US" b="true" sz="9981" spc="978">
                <a:solidFill>
                  <a:srgbClr val="286F17"/>
                </a:solidFill>
                <a:latin typeface="Oswald Bold"/>
                <a:ea typeface="Oswald Bold"/>
                <a:cs typeface="Oswald Bold"/>
                <a:sym typeface="Oswald Bold"/>
              </a:rPr>
              <a:t>PROPOSED SYSTEM</a:t>
            </a:r>
          </a:p>
        </p:txBody>
      </p:sp>
      <p:sp>
        <p:nvSpPr>
          <p:cNvPr name="TextBox 13" id="13"/>
          <p:cNvSpPr txBox="true"/>
          <p:nvPr/>
        </p:nvSpPr>
        <p:spPr>
          <a:xfrm rot="0">
            <a:off x="2474248" y="3358205"/>
            <a:ext cx="11874084" cy="5350764"/>
          </a:xfrm>
          <a:prstGeom prst="rect">
            <a:avLst/>
          </a:prstGeom>
        </p:spPr>
        <p:txBody>
          <a:bodyPr anchor="t" rtlCol="false" tIns="0" lIns="0" bIns="0" rIns="0">
            <a:spAutoFit/>
          </a:bodyPr>
          <a:lstStyle/>
          <a:p>
            <a:pPr algn="just" marL="561341" indent="-280670" lvl="1">
              <a:lnSpc>
                <a:spcPts val="3588"/>
              </a:lnSpc>
              <a:buFont typeface="Arial"/>
              <a:buChar char="•"/>
            </a:pPr>
            <a:r>
              <a:rPr lang="en-US" sz="2600" spc="254">
                <a:solidFill>
                  <a:srgbClr val="286F17"/>
                </a:solidFill>
                <a:latin typeface="DM Sans"/>
                <a:ea typeface="DM Sans"/>
                <a:cs typeface="DM Sans"/>
                <a:sym typeface="DM Sans"/>
              </a:rPr>
              <a:t>For plant disease prediction, the system will implement a ResNet (Residual Neural Network), a powerful deep learning model capable of classifying and identifying plant diseases from images with high precision.</a:t>
            </a:r>
          </a:p>
          <a:p>
            <a:pPr algn="just" marL="561341" indent="-280670" lvl="1">
              <a:lnSpc>
                <a:spcPts val="3588"/>
              </a:lnSpc>
              <a:buFont typeface="Arial"/>
              <a:buChar char="•"/>
            </a:pPr>
            <a:r>
              <a:rPr lang="en-US" sz="2600" spc="254">
                <a:solidFill>
                  <a:srgbClr val="286F17"/>
                </a:solidFill>
                <a:latin typeface="DM Sans"/>
                <a:ea typeface="DM Sans"/>
                <a:cs typeface="DM Sans"/>
                <a:sym typeface="DM Sans"/>
              </a:rPr>
              <a:t> Farmers will be able to upload images of affected crops, and the ResNet-based model will detect and classify diseases, providing treatment suggestions. </a:t>
            </a:r>
          </a:p>
          <a:p>
            <a:pPr algn="just" marL="561341" indent="-280670" lvl="1">
              <a:lnSpc>
                <a:spcPts val="3588"/>
              </a:lnSpc>
              <a:buFont typeface="Arial"/>
              <a:buChar char="•"/>
            </a:pPr>
            <a:r>
              <a:rPr lang="en-US" sz="2600" spc="254">
                <a:solidFill>
                  <a:srgbClr val="286F17"/>
                </a:solidFill>
                <a:latin typeface="DM Sans"/>
                <a:ea typeface="DM Sans"/>
                <a:cs typeface="DM Sans"/>
                <a:sym typeface="DM Sans"/>
              </a:rPr>
              <a:t>The combination of XGBoost for decision-making and ResNet for image-based disease detection ensures a robust, scalable system that improves productivity, reduces crop losses, and enhances overall agricultural efficiency.</a:t>
            </a:r>
          </a:p>
          <a:p>
            <a:pPr algn="just" marL="561341" indent="-280670" lvl="1">
              <a:lnSpc>
                <a:spcPts val="3588"/>
              </a:lnSpc>
              <a:buFont typeface="Arial"/>
              <a:buChar char="•"/>
            </a:pPr>
          </a:p>
        </p:txBody>
      </p:sp>
      <p:sp>
        <p:nvSpPr>
          <p:cNvPr name="Freeform 14" id="14"/>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2142191" y="4828880"/>
            <a:ext cx="9752965" cy="1032847"/>
          </a:xfrm>
          <a:custGeom>
            <a:avLst/>
            <a:gdLst/>
            <a:ahLst/>
            <a:cxnLst/>
            <a:rect r="r" b="b" t="t" l="l"/>
            <a:pathLst>
              <a:path h="1032847" w="9752965">
                <a:moveTo>
                  <a:pt x="0" y="0"/>
                </a:moveTo>
                <a:lnTo>
                  <a:pt x="9752965" y="0"/>
                </a:lnTo>
                <a:lnTo>
                  <a:pt x="9752965" y="1032847"/>
                </a:lnTo>
                <a:lnTo>
                  <a:pt x="0" y="1032847"/>
                </a:lnTo>
                <a:lnTo>
                  <a:pt x="0" y="0"/>
                </a:lnTo>
                <a:close/>
              </a:path>
            </a:pathLst>
          </a:custGeom>
          <a:blipFill>
            <a:blip r:embed="rId3"/>
            <a:stretch>
              <a:fillRect l="0" t="-86495" r="0" b="0"/>
            </a:stretch>
          </a:blipFill>
        </p:spPr>
      </p:sp>
      <p:grpSp>
        <p:nvGrpSpPr>
          <p:cNvPr name="Group 4" id="4"/>
          <p:cNvGrpSpPr/>
          <p:nvPr/>
        </p:nvGrpSpPr>
        <p:grpSpPr>
          <a:xfrm rot="0">
            <a:off x="2142191" y="2970632"/>
            <a:ext cx="11265441" cy="6773299"/>
            <a:chOff x="0" y="0"/>
            <a:chExt cx="4316278" cy="2595144"/>
          </a:xfrm>
        </p:grpSpPr>
        <p:sp>
          <p:nvSpPr>
            <p:cNvPr name="Freeform 5" id="5"/>
            <p:cNvSpPr/>
            <p:nvPr/>
          </p:nvSpPr>
          <p:spPr>
            <a:xfrm flipH="false" flipV="false" rot="0">
              <a:off x="0" y="0"/>
              <a:ext cx="4316278" cy="2595144"/>
            </a:xfrm>
            <a:custGeom>
              <a:avLst/>
              <a:gdLst/>
              <a:ahLst/>
              <a:cxnLst/>
              <a:rect r="r" b="b" t="t" l="l"/>
              <a:pathLst>
                <a:path h="2595144" w="4316278">
                  <a:moveTo>
                    <a:pt x="0" y="0"/>
                  </a:moveTo>
                  <a:lnTo>
                    <a:pt x="4316278" y="0"/>
                  </a:lnTo>
                  <a:lnTo>
                    <a:pt x="4316278" y="2595144"/>
                  </a:lnTo>
                  <a:lnTo>
                    <a:pt x="0" y="2595144"/>
                  </a:lnTo>
                  <a:close/>
                </a:path>
              </a:pathLst>
            </a:custGeom>
            <a:solidFill>
              <a:srgbClr val="EFEFEF"/>
            </a:solidFill>
          </p:spPr>
        </p:sp>
        <p:sp>
          <p:nvSpPr>
            <p:cNvPr name="TextBox 6" id="6"/>
            <p:cNvSpPr txBox="true"/>
            <p:nvPr/>
          </p:nvSpPr>
          <p:spPr>
            <a:xfrm>
              <a:off x="0" y="-19050"/>
              <a:ext cx="4316278" cy="2614194"/>
            </a:xfrm>
            <a:prstGeom prst="rect">
              <a:avLst/>
            </a:prstGeom>
          </p:spPr>
          <p:txBody>
            <a:bodyPr anchor="ctr" rtlCol="false" tIns="50800" lIns="50800" bIns="50800" rIns="50800"/>
            <a:lstStyle/>
            <a:p>
              <a:pPr algn="ctr">
                <a:lnSpc>
                  <a:spcPts val="2859"/>
                </a:lnSpc>
              </a:pPr>
            </a:p>
          </p:txBody>
        </p:sp>
      </p:grpSp>
      <p:sp>
        <p:nvSpPr>
          <p:cNvPr name="Freeform 7" id="7"/>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2588808" y="2970632"/>
            <a:ext cx="13708378" cy="6625716"/>
          </a:xfrm>
          <a:custGeom>
            <a:avLst/>
            <a:gdLst/>
            <a:ahLst/>
            <a:cxnLst/>
            <a:rect r="r" b="b" t="t" l="l"/>
            <a:pathLst>
              <a:path h="6625716" w="13708378">
                <a:moveTo>
                  <a:pt x="0" y="0"/>
                </a:moveTo>
                <a:lnTo>
                  <a:pt x="13708378" y="0"/>
                </a:lnTo>
                <a:lnTo>
                  <a:pt x="13708378" y="6625716"/>
                </a:lnTo>
                <a:lnTo>
                  <a:pt x="0" y="6625716"/>
                </a:lnTo>
                <a:lnTo>
                  <a:pt x="0" y="0"/>
                </a:lnTo>
                <a:close/>
              </a:path>
            </a:pathLst>
          </a:custGeom>
          <a:blipFill>
            <a:blip r:embed="rId6"/>
            <a:stretch>
              <a:fillRect l="0" t="0" r="0" b="0"/>
            </a:stretch>
          </a:blipFill>
        </p:spPr>
      </p:sp>
      <p:sp>
        <p:nvSpPr>
          <p:cNvPr name="TextBox 9" id="9"/>
          <p:cNvSpPr txBox="true"/>
          <p:nvPr/>
        </p:nvSpPr>
        <p:spPr>
          <a:xfrm rot="0">
            <a:off x="2142191" y="888605"/>
            <a:ext cx="12548672" cy="1686342"/>
          </a:xfrm>
          <a:prstGeom prst="rect">
            <a:avLst/>
          </a:prstGeom>
        </p:spPr>
        <p:txBody>
          <a:bodyPr anchor="t" rtlCol="false" tIns="0" lIns="0" bIns="0" rIns="0">
            <a:spAutoFit/>
          </a:bodyPr>
          <a:lstStyle/>
          <a:p>
            <a:pPr algn="l">
              <a:lnSpc>
                <a:spcPts val="13774"/>
              </a:lnSpc>
            </a:pPr>
            <a:r>
              <a:rPr lang="en-US" b="true" sz="9981" spc="978">
                <a:solidFill>
                  <a:srgbClr val="286F17"/>
                </a:solidFill>
                <a:latin typeface="Oswald Bold"/>
                <a:ea typeface="Oswald Bold"/>
                <a:cs typeface="Oswald Bold"/>
                <a:sym typeface="Oswald Bold"/>
              </a:rPr>
              <a:t>ARCHITECTURE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609084" y="2384708"/>
            <a:ext cx="9931617" cy="7743330"/>
          </a:xfrm>
          <a:custGeom>
            <a:avLst/>
            <a:gdLst/>
            <a:ahLst/>
            <a:cxnLst/>
            <a:rect r="r" b="b" t="t" l="l"/>
            <a:pathLst>
              <a:path h="7743330" w="9931617">
                <a:moveTo>
                  <a:pt x="0" y="0"/>
                </a:moveTo>
                <a:lnTo>
                  <a:pt x="9931618" y="0"/>
                </a:lnTo>
                <a:lnTo>
                  <a:pt x="9931618" y="7743330"/>
                </a:lnTo>
                <a:lnTo>
                  <a:pt x="0" y="7743330"/>
                </a:lnTo>
                <a:lnTo>
                  <a:pt x="0" y="0"/>
                </a:lnTo>
                <a:close/>
              </a:path>
            </a:pathLst>
          </a:custGeom>
          <a:blipFill>
            <a:blip r:embed="rId5"/>
            <a:stretch>
              <a:fillRect l="0" t="0" r="-3084" b="0"/>
            </a:stretch>
          </a:blipFill>
        </p:spPr>
      </p:sp>
      <p:sp>
        <p:nvSpPr>
          <p:cNvPr name="TextBox 5" id="5"/>
          <p:cNvSpPr txBox="true"/>
          <p:nvPr/>
        </p:nvSpPr>
        <p:spPr>
          <a:xfrm rot="0">
            <a:off x="2142191" y="955280"/>
            <a:ext cx="7847888" cy="1052182"/>
          </a:xfrm>
          <a:prstGeom prst="rect">
            <a:avLst/>
          </a:prstGeom>
        </p:spPr>
        <p:txBody>
          <a:bodyPr anchor="t" rtlCol="false" tIns="0" lIns="0" bIns="0" rIns="0">
            <a:spAutoFit/>
          </a:bodyPr>
          <a:lstStyle/>
          <a:p>
            <a:pPr algn="l">
              <a:lnSpc>
                <a:spcPts val="8614"/>
              </a:lnSpc>
            </a:pPr>
            <a:r>
              <a:rPr lang="en-US" b="true" sz="6242" spc="611">
                <a:solidFill>
                  <a:srgbClr val="286F17"/>
                </a:solidFill>
                <a:latin typeface="Oswald Bold"/>
                <a:ea typeface="Oswald Bold"/>
                <a:cs typeface="Oswald Bold"/>
                <a:sym typeface="Oswald Bold"/>
              </a:rPr>
              <a:t>SEQUENCE DIAGRAM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848500" y="4063532"/>
            <a:ext cx="15985323" cy="3529781"/>
          </a:xfrm>
          <a:custGeom>
            <a:avLst/>
            <a:gdLst/>
            <a:ahLst/>
            <a:cxnLst/>
            <a:rect r="r" b="b" t="t" l="l"/>
            <a:pathLst>
              <a:path h="3529781" w="15985323">
                <a:moveTo>
                  <a:pt x="0" y="0"/>
                </a:moveTo>
                <a:lnTo>
                  <a:pt x="15985323" y="0"/>
                </a:lnTo>
                <a:lnTo>
                  <a:pt x="15985323" y="3529781"/>
                </a:lnTo>
                <a:lnTo>
                  <a:pt x="0" y="3529781"/>
                </a:lnTo>
                <a:lnTo>
                  <a:pt x="0" y="0"/>
                </a:lnTo>
                <a:close/>
              </a:path>
            </a:pathLst>
          </a:custGeom>
          <a:blipFill>
            <a:blip r:embed="rId5"/>
            <a:stretch>
              <a:fillRect l="0" t="0" r="0" b="0"/>
            </a:stretch>
          </a:blipFill>
        </p:spPr>
      </p:sp>
      <p:sp>
        <p:nvSpPr>
          <p:cNvPr name="TextBox 5" id="5"/>
          <p:cNvSpPr txBox="true"/>
          <p:nvPr/>
        </p:nvSpPr>
        <p:spPr>
          <a:xfrm rot="0">
            <a:off x="2142191" y="955280"/>
            <a:ext cx="8437035" cy="1123305"/>
          </a:xfrm>
          <a:prstGeom prst="rect">
            <a:avLst/>
          </a:prstGeom>
        </p:spPr>
        <p:txBody>
          <a:bodyPr anchor="t" rtlCol="false" tIns="0" lIns="0" bIns="0" rIns="0">
            <a:spAutoFit/>
          </a:bodyPr>
          <a:lstStyle/>
          <a:p>
            <a:pPr algn="l">
              <a:lnSpc>
                <a:spcPts val="9261"/>
              </a:lnSpc>
            </a:pPr>
            <a:r>
              <a:rPr lang="en-US" b="true" sz="6711" spc="657">
                <a:solidFill>
                  <a:srgbClr val="286F17"/>
                </a:solidFill>
                <a:latin typeface="Oswald Bold"/>
                <a:ea typeface="Oswald Bold"/>
                <a:cs typeface="Oswald Bold"/>
                <a:sym typeface="Oswald Bold"/>
              </a:rPr>
              <a:t>CLASS DIAGRAM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57518" y="4023104"/>
            <a:ext cx="15772964" cy="4331510"/>
          </a:xfrm>
          <a:custGeom>
            <a:avLst/>
            <a:gdLst/>
            <a:ahLst/>
            <a:cxnLst/>
            <a:rect r="r" b="b" t="t" l="l"/>
            <a:pathLst>
              <a:path h="4331510" w="15772964">
                <a:moveTo>
                  <a:pt x="0" y="0"/>
                </a:moveTo>
                <a:lnTo>
                  <a:pt x="15772964" y="0"/>
                </a:lnTo>
                <a:lnTo>
                  <a:pt x="15772964" y="4331510"/>
                </a:lnTo>
                <a:lnTo>
                  <a:pt x="0" y="4331510"/>
                </a:lnTo>
                <a:lnTo>
                  <a:pt x="0" y="0"/>
                </a:lnTo>
                <a:close/>
              </a:path>
            </a:pathLst>
          </a:custGeom>
          <a:blipFill>
            <a:blip r:embed="rId5"/>
            <a:stretch>
              <a:fillRect l="0" t="0" r="0" b="0"/>
            </a:stretch>
          </a:blipFill>
        </p:spPr>
      </p:sp>
      <p:sp>
        <p:nvSpPr>
          <p:cNvPr name="TextBox 5" id="5"/>
          <p:cNvSpPr txBox="true"/>
          <p:nvPr/>
        </p:nvSpPr>
        <p:spPr>
          <a:xfrm rot="0">
            <a:off x="2142191" y="945755"/>
            <a:ext cx="8032343" cy="1083975"/>
          </a:xfrm>
          <a:prstGeom prst="rect">
            <a:avLst/>
          </a:prstGeom>
        </p:spPr>
        <p:txBody>
          <a:bodyPr anchor="t" rtlCol="false" tIns="0" lIns="0" bIns="0" rIns="0">
            <a:spAutoFit/>
          </a:bodyPr>
          <a:lstStyle/>
          <a:p>
            <a:pPr algn="l">
              <a:lnSpc>
                <a:spcPts val="8817"/>
              </a:lnSpc>
            </a:pPr>
            <a:r>
              <a:rPr lang="en-US" b="true" sz="6389" spc="626">
                <a:solidFill>
                  <a:srgbClr val="286F17"/>
                </a:solidFill>
                <a:latin typeface="Oswald Bold"/>
                <a:ea typeface="Oswald Bold"/>
                <a:cs typeface="Oswald Bold"/>
                <a:sym typeface="Oswald Bold"/>
              </a:rPr>
              <a:t>USE CASE DIAGRAM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276197" y="8119152"/>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678833" y="2046286"/>
            <a:ext cx="12332731" cy="8097355"/>
          </a:xfrm>
          <a:custGeom>
            <a:avLst/>
            <a:gdLst/>
            <a:ahLst/>
            <a:cxnLst/>
            <a:rect r="r" b="b" t="t" l="l"/>
            <a:pathLst>
              <a:path h="8097355" w="12332731">
                <a:moveTo>
                  <a:pt x="0" y="0"/>
                </a:moveTo>
                <a:lnTo>
                  <a:pt x="12332731" y="0"/>
                </a:lnTo>
                <a:lnTo>
                  <a:pt x="12332731" y="8097355"/>
                </a:lnTo>
                <a:lnTo>
                  <a:pt x="0" y="8097355"/>
                </a:lnTo>
                <a:lnTo>
                  <a:pt x="0" y="0"/>
                </a:lnTo>
                <a:close/>
              </a:path>
            </a:pathLst>
          </a:custGeom>
          <a:blipFill>
            <a:blip r:embed="rId5"/>
            <a:stretch>
              <a:fillRect l="0" t="0" r="0" b="0"/>
            </a:stretch>
          </a:blipFill>
        </p:spPr>
      </p:sp>
      <p:sp>
        <p:nvSpPr>
          <p:cNvPr name="TextBox 5" id="5"/>
          <p:cNvSpPr txBox="true"/>
          <p:nvPr/>
        </p:nvSpPr>
        <p:spPr>
          <a:xfrm rot="0">
            <a:off x="5091322" y="484174"/>
            <a:ext cx="7443197" cy="993802"/>
          </a:xfrm>
          <a:prstGeom prst="rect">
            <a:avLst/>
          </a:prstGeom>
        </p:spPr>
        <p:txBody>
          <a:bodyPr anchor="t" rtlCol="false" tIns="0" lIns="0" bIns="0" rIns="0">
            <a:spAutoFit/>
          </a:bodyPr>
          <a:lstStyle/>
          <a:p>
            <a:pPr algn="l">
              <a:lnSpc>
                <a:spcPts val="8170"/>
              </a:lnSpc>
            </a:pPr>
            <a:r>
              <a:rPr lang="en-US" b="true" sz="5920" spc="580">
                <a:solidFill>
                  <a:srgbClr val="286F17"/>
                </a:solidFill>
                <a:latin typeface="Oswald Bold"/>
                <a:ea typeface="Oswald Bold"/>
                <a:cs typeface="Oswald Bold"/>
                <a:sym typeface="Oswald Bold"/>
              </a:rPr>
              <a:t>ACTIVITY DIAGRAM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86F17"/>
        </a:solidFill>
      </p:bgPr>
    </p:bg>
    <p:spTree>
      <p:nvGrpSpPr>
        <p:cNvPr id="1" name=""/>
        <p:cNvGrpSpPr/>
        <p:nvPr/>
      </p:nvGrpSpPr>
      <p:grpSpPr>
        <a:xfrm>
          <a:off x="0" y="0"/>
          <a:ext cx="0" cy="0"/>
          <a:chOff x="0" y="0"/>
          <a:chExt cx="0" cy="0"/>
        </a:xfrm>
      </p:grpSpPr>
      <p:grpSp>
        <p:nvGrpSpPr>
          <p:cNvPr name="Group 2" id="2"/>
          <p:cNvGrpSpPr/>
          <p:nvPr/>
        </p:nvGrpSpPr>
        <p:grpSpPr>
          <a:xfrm rot="0">
            <a:off x="-2770706" y="-3368517"/>
            <a:ext cx="4959890" cy="49598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4F5"/>
            </a:solidFill>
          </p:spPr>
        </p:sp>
        <p:sp>
          <p:nvSpPr>
            <p:cNvPr name="TextBox 4" id="4"/>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grpSp>
        <p:nvGrpSpPr>
          <p:cNvPr name="Group 5" id="5"/>
          <p:cNvGrpSpPr/>
          <p:nvPr/>
        </p:nvGrpSpPr>
        <p:grpSpPr>
          <a:xfrm rot="0">
            <a:off x="13968075" y="4873383"/>
            <a:ext cx="13188954" cy="1318895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4F5"/>
            </a:solidFill>
          </p:spPr>
        </p:sp>
        <p:sp>
          <p:nvSpPr>
            <p:cNvPr name="TextBox 7" id="7"/>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8" id="8"/>
          <p:cNvSpPr txBox="true"/>
          <p:nvPr/>
        </p:nvSpPr>
        <p:spPr>
          <a:xfrm rot="0">
            <a:off x="5590982" y="259170"/>
            <a:ext cx="10122433" cy="1396186"/>
          </a:xfrm>
          <a:prstGeom prst="rect">
            <a:avLst/>
          </a:prstGeom>
        </p:spPr>
        <p:txBody>
          <a:bodyPr anchor="t" rtlCol="false" tIns="0" lIns="0" bIns="0" rIns="0">
            <a:spAutoFit/>
          </a:bodyPr>
          <a:lstStyle/>
          <a:p>
            <a:pPr algn="l">
              <a:lnSpc>
                <a:spcPts val="11349"/>
              </a:lnSpc>
            </a:pPr>
            <a:r>
              <a:rPr lang="en-US" b="true" sz="8224" spc="806">
                <a:solidFill>
                  <a:srgbClr val="FFFFFF"/>
                </a:solidFill>
                <a:latin typeface="Oswald Bold"/>
                <a:ea typeface="Oswald Bold"/>
                <a:cs typeface="Oswald Bold"/>
                <a:sym typeface="Oswald Bold"/>
              </a:rPr>
              <a:t>ADVATAGES</a:t>
            </a:r>
          </a:p>
        </p:txBody>
      </p:sp>
      <p:sp>
        <p:nvSpPr>
          <p:cNvPr name="TextBox 9" id="9"/>
          <p:cNvSpPr txBox="true"/>
          <p:nvPr/>
        </p:nvSpPr>
        <p:spPr>
          <a:xfrm rot="0">
            <a:off x="836490" y="2098277"/>
            <a:ext cx="15263572" cy="7846153"/>
          </a:xfrm>
          <a:prstGeom prst="rect">
            <a:avLst/>
          </a:prstGeom>
        </p:spPr>
        <p:txBody>
          <a:bodyPr anchor="t" rtlCol="false" tIns="0" lIns="0" bIns="0" rIns="0">
            <a:spAutoFit/>
          </a:bodyPr>
          <a:lstStyle/>
          <a:p>
            <a:pPr algn="just" marL="652818" indent="-326409" lvl="1">
              <a:lnSpc>
                <a:spcPts val="4172"/>
              </a:lnSpc>
              <a:buFont typeface="Arial"/>
              <a:buChar char="•"/>
            </a:pPr>
            <a:r>
              <a:rPr lang="en-US" sz="3023" spc="296">
                <a:solidFill>
                  <a:srgbClr val="F5FFF5"/>
                </a:solidFill>
                <a:latin typeface="DM Sans"/>
                <a:ea typeface="DM Sans"/>
                <a:cs typeface="DM Sans"/>
                <a:sym typeface="DM Sans"/>
              </a:rPr>
              <a:t>High Accuracy in Crop Recommendations: The use of the XGBoost algorithm ensures precise and reliable crop recommendations by analyzing various soil parameters, including pH, moisture, and nutrient content, leading to improved yields and optimized farming practices.</a:t>
            </a:r>
          </a:p>
          <a:p>
            <a:pPr algn="just" marL="652818" indent="-326409" lvl="1">
              <a:lnSpc>
                <a:spcPts val="4172"/>
              </a:lnSpc>
              <a:buFont typeface="Arial"/>
              <a:buChar char="•"/>
            </a:pPr>
            <a:r>
              <a:rPr lang="en-US" sz="3023" spc="296">
                <a:solidFill>
                  <a:srgbClr val="F5FFF5"/>
                </a:solidFill>
                <a:latin typeface="DM Sans"/>
                <a:ea typeface="DM Sans"/>
                <a:cs typeface="DM Sans"/>
                <a:sym typeface="DM Sans"/>
              </a:rPr>
              <a:t>Efficient Disease Prediction: With the implementation of the ResNet model, the system can accurately detect and classify plant diseases from images. ResNet’s deep learning architecture allows for high precision, reducing the risk of misdiagnosis and ensuring timely intervention.</a:t>
            </a:r>
          </a:p>
          <a:p>
            <a:pPr algn="just" marL="652818" indent="-326409" lvl="1">
              <a:lnSpc>
                <a:spcPts val="4172"/>
              </a:lnSpc>
              <a:buFont typeface="Arial"/>
              <a:buChar char="•"/>
            </a:pPr>
            <a:r>
              <a:rPr lang="en-US" sz="3023" spc="296">
                <a:solidFill>
                  <a:srgbClr val="F5FFF5"/>
                </a:solidFill>
                <a:latin typeface="DM Sans"/>
                <a:ea typeface="DM Sans"/>
                <a:cs typeface="DM Sans"/>
                <a:sym typeface="DM Sans"/>
              </a:rPr>
              <a:t>Real-Time Support for Farmers: The chatbot provides instant answers to farmers’ queries, offering real-time guidance on crop selection and disease management, which saves time and effort for farmers and reduces dependence on external experts.</a:t>
            </a:r>
          </a:p>
          <a:p>
            <a:pPr algn="just">
              <a:lnSpc>
                <a:spcPts val="4172"/>
              </a:lnSpc>
            </a:pPr>
          </a:p>
        </p:txBody>
      </p:sp>
      <p:sp>
        <p:nvSpPr>
          <p:cNvPr name="TextBox 10" id="10"/>
          <p:cNvSpPr txBox="true"/>
          <p:nvPr/>
        </p:nvSpPr>
        <p:spPr>
          <a:xfrm rot="0">
            <a:off x="15907718" y="6699224"/>
            <a:ext cx="2703164" cy="1231620"/>
          </a:xfrm>
          <a:prstGeom prst="rect">
            <a:avLst/>
          </a:prstGeom>
        </p:spPr>
        <p:txBody>
          <a:bodyPr anchor="t" rtlCol="false" tIns="0" lIns="0" bIns="0" rIns="0">
            <a:spAutoFit/>
          </a:bodyPr>
          <a:lstStyle/>
          <a:p>
            <a:pPr algn="ctr" marL="0" indent="0" lvl="0">
              <a:lnSpc>
                <a:spcPts val="10054"/>
              </a:lnSpc>
              <a:spcBef>
                <a:spcPct val="0"/>
              </a:spcBef>
            </a:pPr>
            <a:r>
              <a:rPr lang="en-US" b="true" sz="7285">
                <a:solidFill>
                  <a:srgbClr val="286F17"/>
                </a:solidFill>
                <a:latin typeface="Oswald Bold"/>
                <a:ea typeface="Oswald Bold"/>
                <a:cs typeface="Oswald Bold"/>
                <a:sym typeface="Oswald Bold"/>
              </a:rPr>
              <a:t>97%</a:t>
            </a:r>
          </a:p>
        </p:txBody>
      </p:sp>
      <p:pic>
        <p:nvPicPr>
          <p:cNvPr name="Picture 11" id="11"/>
          <p:cNvPicPr>
            <a:picLocks noChangeAspect="true"/>
          </p:cNvPicPr>
          <p:nvPr/>
        </p:nvPicPr>
        <p:blipFill>
          <a:blip r:embed="rId2"/>
          <a:stretch>
            <a:fillRect/>
          </a:stretch>
        </p:blipFill>
        <p:spPr>
          <a:xfrm rot="0">
            <a:off x="14842950" y="7944155"/>
            <a:ext cx="3609596" cy="870256"/>
          </a:xfrm>
          <a:prstGeom prst="rect">
            <a:avLst/>
          </a:prstGeom>
        </p:spPr>
      </p:pic>
      <p:sp>
        <p:nvSpPr>
          <p:cNvPr name="TextBox 12" id="12"/>
          <p:cNvSpPr txBox="true"/>
          <p:nvPr/>
        </p:nvSpPr>
        <p:spPr>
          <a:xfrm rot="0">
            <a:off x="14539359" y="8732472"/>
            <a:ext cx="8946687" cy="956405"/>
          </a:xfrm>
          <a:prstGeom prst="rect">
            <a:avLst/>
          </a:prstGeom>
        </p:spPr>
        <p:txBody>
          <a:bodyPr anchor="t" rtlCol="false" tIns="0" lIns="0" bIns="0" rIns="0">
            <a:spAutoFit/>
          </a:bodyPr>
          <a:lstStyle/>
          <a:p>
            <a:pPr algn="l">
              <a:lnSpc>
                <a:spcPts val="7830"/>
              </a:lnSpc>
            </a:pPr>
            <a:r>
              <a:rPr lang="en-US" b="true" sz="5674" spc="556">
                <a:solidFill>
                  <a:srgbClr val="286F17"/>
                </a:solidFill>
                <a:latin typeface="Oswald Bold"/>
                <a:ea typeface="Oswald Bold"/>
                <a:cs typeface="Oswald Bold"/>
                <a:sym typeface="Oswald Bold"/>
              </a:rPr>
              <a:t>ACCURACY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2696760" y="301937"/>
            <a:ext cx="2027545" cy="3080525"/>
          </a:xfrm>
          <a:custGeom>
            <a:avLst/>
            <a:gdLst/>
            <a:ahLst/>
            <a:cxnLst/>
            <a:rect r="r" b="b" t="t" l="l"/>
            <a:pathLst>
              <a:path h="3080525" w="2027545">
                <a:moveTo>
                  <a:pt x="0" y="0"/>
                </a:moveTo>
                <a:lnTo>
                  <a:pt x="2027546" y="0"/>
                </a:lnTo>
                <a:lnTo>
                  <a:pt x="2027546"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035253">
            <a:off x="16397917" y="5645186"/>
            <a:ext cx="7835077" cy="10939025"/>
          </a:xfrm>
          <a:custGeom>
            <a:avLst/>
            <a:gdLst/>
            <a:ahLst/>
            <a:cxnLst/>
            <a:rect r="r" b="b" t="t" l="l"/>
            <a:pathLst>
              <a:path h="10939025" w="7835077">
                <a:moveTo>
                  <a:pt x="0" y="0"/>
                </a:moveTo>
                <a:lnTo>
                  <a:pt x="7835077" y="0"/>
                </a:lnTo>
                <a:lnTo>
                  <a:pt x="7835077" y="10939025"/>
                </a:lnTo>
                <a:lnTo>
                  <a:pt x="0" y="109390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5" id="5"/>
          <p:cNvSpPr/>
          <p:nvPr/>
        </p:nvSpPr>
        <p:spPr>
          <a:xfrm>
            <a:off x="1589541" y="3342862"/>
            <a:ext cx="15108918" cy="0"/>
          </a:xfrm>
          <a:prstGeom prst="line">
            <a:avLst/>
          </a:prstGeom>
          <a:ln cap="flat" w="38100">
            <a:solidFill>
              <a:srgbClr val="286F17"/>
            </a:solidFill>
            <a:prstDash val="solid"/>
            <a:headEnd type="none" len="sm" w="sm"/>
            <a:tailEnd type="none" len="sm" w="sm"/>
          </a:ln>
        </p:spPr>
      </p:sp>
      <p:grpSp>
        <p:nvGrpSpPr>
          <p:cNvPr name="Group 6" id="6"/>
          <p:cNvGrpSpPr/>
          <p:nvPr/>
        </p:nvGrpSpPr>
        <p:grpSpPr>
          <a:xfrm rot="0">
            <a:off x="3459992" y="3092321"/>
            <a:ext cx="501082" cy="50108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6F17"/>
            </a:solidFill>
          </p:spPr>
        </p:sp>
        <p:sp>
          <p:nvSpPr>
            <p:cNvPr name="TextBox 8" id="8"/>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1955760" y="4715746"/>
            <a:ext cx="3805700" cy="4455247"/>
          </a:xfrm>
          <a:prstGeom prst="rect">
            <a:avLst/>
          </a:prstGeom>
        </p:spPr>
        <p:txBody>
          <a:bodyPr anchor="t" rtlCol="false" tIns="0" lIns="0" bIns="0" rIns="0">
            <a:spAutoFit/>
          </a:bodyPr>
          <a:lstStyle/>
          <a:p>
            <a:pPr algn="ctr" marL="398206" indent="-199103" lvl="1">
              <a:lnSpc>
                <a:spcPts val="2545"/>
              </a:lnSpc>
              <a:buFont typeface="Arial"/>
              <a:buChar char="•"/>
            </a:pPr>
            <a:r>
              <a:rPr lang="en-US" sz="1844" spc="180">
                <a:solidFill>
                  <a:srgbClr val="286F17"/>
                </a:solidFill>
                <a:latin typeface="DM Sans"/>
                <a:ea typeface="DM Sans"/>
                <a:cs typeface="DM Sans"/>
                <a:sym typeface="DM Sans"/>
              </a:rPr>
              <a:t>Collect relevant soil data (pH, moisture, nutrient levels) and plant disease image datasets.</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Compile a dataset containing various crop types, their soil requirements, and corresponding optimal conditions.</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Gather image datasets of common crop diseases to train the ResNet model.</a:t>
            </a:r>
          </a:p>
          <a:p>
            <a:pPr algn="ctr">
              <a:lnSpc>
                <a:spcPts val="2545"/>
              </a:lnSpc>
            </a:pPr>
          </a:p>
        </p:txBody>
      </p:sp>
      <p:sp>
        <p:nvSpPr>
          <p:cNvPr name="TextBox 10" id="10"/>
          <p:cNvSpPr txBox="true"/>
          <p:nvPr/>
        </p:nvSpPr>
        <p:spPr>
          <a:xfrm rot="0">
            <a:off x="2696760" y="914400"/>
            <a:ext cx="2027545" cy="1121713"/>
          </a:xfrm>
          <a:prstGeom prst="rect">
            <a:avLst/>
          </a:prstGeom>
        </p:spPr>
        <p:txBody>
          <a:bodyPr anchor="t" rtlCol="false" tIns="0" lIns="0" bIns="0" rIns="0">
            <a:spAutoFit/>
          </a:bodyPr>
          <a:lstStyle/>
          <a:p>
            <a:pPr algn="ctr">
              <a:lnSpc>
                <a:spcPts val="9141"/>
              </a:lnSpc>
            </a:pPr>
            <a:r>
              <a:rPr lang="en-US" b="true" sz="6624" spc="649">
                <a:solidFill>
                  <a:srgbClr val="FFFBFB"/>
                </a:solidFill>
                <a:latin typeface="DM Sans Bold"/>
                <a:ea typeface="DM Sans Bold"/>
                <a:cs typeface="DM Sans Bold"/>
                <a:sym typeface="DM Sans Bold"/>
              </a:rPr>
              <a:t>01</a:t>
            </a:r>
          </a:p>
        </p:txBody>
      </p:sp>
      <p:sp>
        <p:nvSpPr>
          <p:cNvPr name="TextBox 11" id="11"/>
          <p:cNvSpPr txBox="true"/>
          <p:nvPr/>
        </p:nvSpPr>
        <p:spPr>
          <a:xfrm rot="0">
            <a:off x="1824496" y="3649901"/>
            <a:ext cx="3936965" cy="999170"/>
          </a:xfrm>
          <a:prstGeom prst="rect">
            <a:avLst/>
          </a:prstGeom>
        </p:spPr>
        <p:txBody>
          <a:bodyPr anchor="t" rtlCol="false" tIns="0" lIns="0" bIns="0" rIns="0">
            <a:spAutoFit/>
          </a:bodyPr>
          <a:lstStyle/>
          <a:p>
            <a:pPr algn="ctr">
              <a:lnSpc>
                <a:spcPts val="4073"/>
              </a:lnSpc>
            </a:pPr>
            <a:r>
              <a:rPr lang="en-US" b="true" sz="2951" spc="289">
                <a:solidFill>
                  <a:srgbClr val="286F17"/>
                </a:solidFill>
                <a:latin typeface="DM Sans Bold"/>
                <a:ea typeface="DM Sans Bold"/>
                <a:cs typeface="DM Sans Bold"/>
                <a:sym typeface="DM Sans Bold"/>
              </a:rPr>
              <a:t>DATA COLLECTION</a:t>
            </a:r>
          </a:p>
        </p:txBody>
      </p:sp>
      <p:sp>
        <p:nvSpPr>
          <p:cNvPr name="Freeform 12" id="12"/>
          <p:cNvSpPr/>
          <p:nvPr/>
        </p:nvSpPr>
        <p:spPr>
          <a:xfrm flipH="false" flipV="false" rot="0">
            <a:off x="6292382" y="243287"/>
            <a:ext cx="2027545" cy="3080525"/>
          </a:xfrm>
          <a:custGeom>
            <a:avLst/>
            <a:gdLst/>
            <a:ahLst/>
            <a:cxnLst/>
            <a:rect r="r" b="b" t="t" l="l"/>
            <a:pathLst>
              <a:path h="3080525" w="202754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7055613" y="3073271"/>
            <a:ext cx="501082" cy="50108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6F17"/>
            </a:solidFill>
          </p:spPr>
        </p:sp>
        <p:sp>
          <p:nvSpPr>
            <p:cNvPr name="TextBox 15" id="15"/>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16" id="16"/>
          <p:cNvSpPr txBox="true"/>
          <p:nvPr/>
        </p:nvSpPr>
        <p:spPr>
          <a:xfrm rot="0">
            <a:off x="6252547" y="914400"/>
            <a:ext cx="2027545" cy="1121713"/>
          </a:xfrm>
          <a:prstGeom prst="rect">
            <a:avLst/>
          </a:prstGeom>
        </p:spPr>
        <p:txBody>
          <a:bodyPr anchor="t" rtlCol="false" tIns="0" lIns="0" bIns="0" rIns="0">
            <a:spAutoFit/>
          </a:bodyPr>
          <a:lstStyle/>
          <a:p>
            <a:pPr algn="ctr">
              <a:lnSpc>
                <a:spcPts val="9141"/>
              </a:lnSpc>
            </a:pPr>
            <a:r>
              <a:rPr lang="en-US" b="true" sz="6624" spc="649">
                <a:solidFill>
                  <a:srgbClr val="FFFBFB"/>
                </a:solidFill>
                <a:latin typeface="DM Sans Bold"/>
                <a:ea typeface="DM Sans Bold"/>
                <a:cs typeface="DM Sans Bold"/>
                <a:sym typeface="DM Sans Bold"/>
              </a:rPr>
              <a:t>02</a:t>
            </a:r>
          </a:p>
        </p:txBody>
      </p:sp>
      <p:sp>
        <p:nvSpPr>
          <p:cNvPr name="Freeform 17" id="17"/>
          <p:cNvSpPr/>
          <p:nvPr/>
        </p:nvSpPr>
        <p:spPr>
          <a:xfrm flipH="false" flipV="false" rot="0">
            <a:off x="9652502" y="243287"/>
            <a:ext cx="2027545" cy="3080525"/>
          </a:xfrm>
          <a:custGeom>
            <a:avLst/>
            <a:gdLst/>
            <a:ahLst/>
            <a:cxnLst/>
            <a:rect r="r" b="b" t="t" l="l"/>
            <a:pathLst>
              <a:path h="3080525" w="202754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8" id="18"/>
          <p:cNvGrpSpPr/>
          <p:nvPr/>
        </p:nvGrpSpPr>
        <p:grpSpPr>
          <a:xfrm rot="0">
            <a:off x="10521294" y="3073271"/>
            <a:ext cx="501082" cy="50108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6F17"/>
            </a:solidFill>
          </p:spPr>
        </p:sp>
        <p:sp>
          <p:nvSpPr>
            <p:cNvPr name="TextBox 20" id="20"/>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21" id="21"/>
          <p:cNvSpPr txBox="true"/>
          <p:nvPr/>
        </p:nvSpPr>
        <p:spPr>
          <a:xfrm rot="0">
            <a:off x="9758062" y="914400"/>
            <a:ext cx="2027545" cy="1121713"/>
          </a:xfrm>
          <a:prstGeom prst="rect">
            <a:avLst/>
          </a:prstGeom>
        </p:spPr>
        <p:txBody>
          <a:bodyPr anchor="t" rtlCol="false" tIns="0" lIns="0" bIns="0" rIns="0">
            <a:spAutoFit/>
          </a:bodyPr>
          <a:lstStyle/>
          <a:p>
            <a:pPr algn="ctr">
              <a:lnSpc>
                <a:spcPts val="9141"/>
              </a:lnSpc>
            </a:pPr>
            <a:r>
              <a:rPr lang="en-US" b="true" sz="6624" spc="649">
                <a:solidFill>
                  <a:srgbClr val="FFFBFB"/>
                </a:solidFill>
                <a:latin typeface="DM Sans Bold"/>
                <a:ea typeface="DM Sans Bold"/>
                <a:cs typeface="DM Sans Bold"/>
                <a:sym typeface="DM Sans Bold"/>
              </a:rPr>
              <a:t>03</a:t>
            </a:r>
          </a:p>
        </p:txBody>
      </p:sp>
      <p:sp>
        <p:nvSpPr>
          <p:cNvPr name="Freeform 22" id="22"/>
          <p:cNvSpPr/>
          <p:nvPr/>
        </p:nvSpPr>
        <p:spPr>
          <a:xfrm flipH="false" flipV="false" rot="0">
            <a:off x="13261983" y="243287"/>
            <a:ext cx="2027545" cy="3080525"/>
          </a:xfrm>
          <a:custGeom>
            <a:avLst/>
            <a:gdLst/>
            <a:ahLst/>
            <a:cxnLst/>
            <a:rect r="r" b="b" t="t" l="l"/>
            <a:pathLst>
              <a:path h="3080525" w="2027545">
                <a:moveTo>
                  <a:pt x="0" y="0"/>
                </a:moveTo>
                <a:lnTo>
                  <a:pt x="2027545" y="0"/>
                </a:lnTo>
                <a:lnTo>
                  <a:pt x="2027545" y="3080525"/>
                </a:lnTo>
                <a:lnTo>
                  <a:pt x="0" y="3080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3" id="23"/>
          <p:cNvGrpSpPr/>
          <p:nvPr/>
        </p:nvGrpSpPr>
        <p:grpSpPr>
          <a:xfrm rot="0">
            <a:off x="14025215" y="3131921"/>
            <a:ext cx="501082" cy="50108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6F17"/>
            </a:solidFill>
          </p:spPr>
        </p:sp>
        <p:sp>
          <p:nvSpPr>
            <p:cNvPr name="TextBox 25" id="25"/>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26" id="26"/>
          <p:cNvSpPr txBox="true"/>
          <p:nvPr/>
        </p:nvSpPr>
        <p:spPr>
          <a:xfrm rot="0">
            <a:off x="13259519" y="914400"/>
            <a:ext cx="2027545" cy="1121713"/>
          </a:xfrm>
          <a:prstGeom prst="rect">
            <a:avLst/>
          </a:prstGeom>
        </p:spPr>
        <p:txBody>
          <a:bodyPr anchor="t" rtlCol="false" tIns="0" lIns="0" bIns="0" rIns="0">
            <a:spAutoFit/>
          </a:bodyPr>
          <a:lstStyle/>
          <a:p>
            <a:pPr algn="ctr">
              <a:lnSpc>
                <a:spcPts val="9141"/>
              </a:lnSpc>
            </a:pPr>
            <a:r>
              <a:rPr lang="en-US" b="true" sz="6624" spc="649">
                <a:solidFill>
                  <a:srgbClr val="FFFBFB"/>
                </a:solidFill>
                <a:latin typeface="DM Sans Bold"/>
                <a:ea typeface="DM Sans Bold"/>
                <a:cs typeface="DM Sans Bold"/>
                <a:sym typeface="DM Sans Bold"/>
              </a:rPr>
              <a:t>04</a:t>
            </a:r>
          </a:p>
        </p:txBody>
      </p:sp>
      <p:sp>
        <p:nvSpPr>
          <p:cNvPr name="TextBox 27" id="27"/>
          <p:cNvSpPr txBox="true"/>
          <p:nvPr/>
        </p:nvSpPr>
        <p:spPr>
          <a:xfrm rot="0">
            <a:off x="5761461" y="4620496"/>
            <a:ext cx="3204526" cy="4774450"/>
          </a:xfrm>
          <a:prstGeom prst="rect">
            <a:avLst/>
          </a:prstGeom>
        </p:spPr>
        <p:txBody>
          <a:bodyPr anchor="t" rtlCol="false" tIns="0" lIns="0" bIns="0" rIns="0">
            <a:spAutoFit/>
          </a:bodyPr>
          <a:lstStyle/>
          <a:p>
            <a:pPr algn="ctr" marL="398206" indent="-199103" lvl="1">
              <a:lnSpc>
                <a:spcPts val="2545"/>
              </a:lnSpc>
              <a:buFont typeface="Arial"/>
              <a:buChar char="•"/>
            </a:pPr>
            <a:r>
              <a:rPr lang="en-US" sz="1844" spc="180">
                <a:solidFill>
                  <a:srgbClr val="286F17"/>
                </a:solidFill>
                <a:latin typeface="DM Sans"/>
                <a:ea typeface="DM Sans"/>
                <a:cs typeface="DM Sans"/>
                <a:sym typeface="DM Sans"/>
              </a:rPr>
              <a:t>Develop a chatbot using Natural Language Processing (NLP) to understand and respond to farmers' queries.</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Integrate the XGBoost model to provide real-time crop recommendations when farmers input soil parameters.</a:t>
            </a:r>
          </a:p>
          <a:p>
            <a:pPr algn="ctr">
              <a:lnSpc>
                <a:spcPts val="2545"/>
              </a:lnSpc>
            </a:pPr>
          </a:p>
          <a:p>
            <a:pPr algn="ctr">
              <a:lnSpc>
                <a:spcPts val="2545"/>
              </a:lnSpc>
            </a:pPr>
          </a:p>
        </p:txBody>
      </p:sp>
      <p:sp>
        <p:nvSpPr>
          <p:cNvPr name="TextBox 28" id="28"/>
          <p:cNvSpPr txBox="true"/>
          <p:nvPr/>
        </p:nvSpPr>
        <p:spPr>
          <a:xfrm rot="0">
            <a:off x="5703892" y="3649901"/>
            <a:ext cx="3440108" cy="999170"/>
          </a:xfrm>
          <a:prstGeom prst="rect">
            <a:avLst/>
          </a:prstGeom>
        </p:spPr>
        <p:txBody>
          <a:bodyPr anchor="t" rtlCol="false" tIns="0" lIns="0" bIns="0" rIns="0">
            <a:spAutoFit/>
          </a:bodyPr>
          <a:lstStyle/>
          <a:p>
            <a:pPr algn="ctr">
              <a:lnSpc>
                <a:spcPts val="4073"/>
              </a:lnSpc>
            </a:pPr>
            <a:r>
              <a:rPr lang="en-US" b="true" sz="2951" spc="289">
                <a:solidFill>
                  <a:srgbClr val="286F17"/>
                </a:solidFill>
                <a:latin typeface="DM Sans Bold"/>
                <a:ea typeface="DM Sans Bold"/>
                <a:cs typeface="DM Sans Bold"/>
                <a:sym typeface="DM Sans Bold"/>
              </a:rPr>
              <a:t>CHATBOT</a:t>
            </a:r>
          </a:p>
          <a:p>
            <a:pPr algn="ctr">
              <a:lnSpc>
                <a:spcPts val="4073"/>
              </a:lnSpc>
            </a:pPr>
            <a:r>
              <a:rPr lang="en-US" b="true" sz="2951" spc="289">
                <a:solidFill>
                  <a:srgbClr val="286F17"/>
                </a:solidFill>
                <a:latin typeface="DM Sans Bold"/>
                <a:ea typeface="DM Sans Bold"/>
                <a:cs typeface="DM Sans Bold"/>
                <a:sym typeface="DM Sans Bold"/>
              </a:rPr>
              <a:t>DEVELOPEMENT</a:t>
            </a:r>
          </a:p>
        </p:txBody>
      </p:sp>
      <p:sp>
        <p:nvSpPr>
          <p:cNvPr name="TextBox 29" id="29"/>
          <p:cNvSpPr txBox="true"/>
          <p:nvPr/>
        </p:nvSpPr>
        <p:spPr>
          <a:xfrm rot="0">
            <a:off x="9405155" y="4845800"/>
            <a:ext cx="3204526" cy="5732057"/>
          </a:xfrm>
          <a:prstGeom prst="rect">
            <a:avLst/>
          </a:prstGeom>
        </p:spPr>
        <p:txBody>
          <a:bodyPr anchor="t" rtlCol="false" tIns="0" lIns="0" bIns="0" rIns="0">
            <a:spAutoFit/>
          </a:bodyPr>
          <a:lstStyle/>
          <a:p>
            <a:pPr algn="ctr" marL="398206" indent="-199103" lvl="1">
              <a:lnSpc>
                <a:spcPts val="2545"/>
              </a:lnSpc>
              <a:buFont typeface="Arial"/>
              <a:buChar char="•"/>
            </a:pPr>
            <a:r>
              <a:rPr lang="en-US" sz="1844" spc="180">
                <a:solidFill>
                  <a:srgbClr val="286F17"/>
                </a:solidFill>
                <a:latin typeface="DM Sans"/>
                <a:ea typeface="DM Sans"/>
                <a:cs typeface="DM Sans"/>
                <a:sym typeface="DM Sans"/>
              </a:rPr>
              <a:t>XGBoost Model:</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Train the XGBoost model using soil data to classify and recommend suitable crops based on input parameters like pH, moisture, and nutrients.</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ResNet Model:</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Train the ResNet model on the disease image dataset to classify plant diseases based on visual characteristics.</a:t>
            </a:r>
          </a:p>
          <a:p>
            <a:pPr algn="ctr">
              <a:lnSpc>
                <a:spcPts val="2545"/>
              </a:lnSpc>
            </a:pPr>
          </a:p>
        </p:txBody>
      </p:sp>
      <p:sp>
        <p:nvSpPr>
          <p:cNvPr name="TextBox 30" id="30"/>
          <p:cNvSpPr txBox="true"/>
          <p:nvPr/>
        </p:nvSpPr>
        <p:spPr>
          <a:xfrm rot="0">
            <a:off x="9652502" y="3649901"/>
            <a:ext cx="2709833" cy="999170"/>
          </a:xfrm>
          <a:prstGeom prst="rect">
            <a:avLst/>
          </a:prstGeom>
        </p:spPr>
        <p:txBody>
          <a:bodyPr anchor="t" rtlCol="false" tIns="0" lIns="0" bIns="0" rIns="0">
            <a:spAutoFit/>
          </a:bodyPr>
          <a:lstStyle/>
          <a:p>
            <a:pPr algn="ctr">
              <a:lnSpc>
                <a:spcPts val="4073"/>
              </a:lnSpc>
            </a:pPr>
            <a:r>
              <a:rPr lang="en-US" b="true" sz="2951" spc="289">
                <a:solidFill>
                  <a:srgbClr val="286F17"/>
                </a:solidFill>
                <a:latin typeface="DM Sans Bold"/>
                <a:ea typeface="DM Sans Bold"/>
                <a:cs typeface="DM Sans Bold"/>
                <a:sym typeface="DM Sans Bold"/>
              </a:rPr>
              <a:t>MODEL TRAINING</a:t>
            </a:r>
          </a:p>
        </p:txBody>
      </p:sp>
      <p:sp>
        <p:nvSpPr>
          <p:cNvPr name="TextBox 31" id="31"/>
          <p:cNvSpPr txBox="true"/>
          <p:nvPr/>
        </p:nvSpPr>
        <p:spPr>
          <a:xfrm rot="0">
            <a:off x="13047831" y="4845800"/>
            <a:ext cx="4126818" cy="3178437"/>
          </a:xfrm>
          <a:prstGeom prst="rect">
            <a:avLst/>
          </a:prstGeom>
        </p:spPr>
        <p:txBody>
          <a:bodyPr anchor="t" rtlCol="false" tIns="0" lIns="0" bIns="0" rIns="0">
            <a:spAutoFit/>
          </a:bodyPr>
          <a:lstStyle/>
          <a:p>
            <a:pPr algn="ctr">
              <a:lnSpc>
                <a:spcPts val="2545"/>
              </a:lnSpc>
            </a:pP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Deploy the chatbot as a web or mobile application accessible to farmers.</a:t>
            </a:r>
          </a:p>
          <a:p>
            <a:pPr algn="ctr" marL="398206" indent="-199103" lvl="1">
              <a:lnSpc>
                <a:spcPts val="2545"/>
              </a:lnSpc>
              <a:buFont typeface="Arial"/>
              <a:buChar char="•"/>
            </a:pPr>
            <a:r>
              <a:rPr lang="en-US" sz="1844" spc="180">
                <a:solidFill>
                  <a:srgbClr val="286F17"/>
                </a:solidFill>
                <a:latin typeface="DM Sans"/>
                <a:ea typeface="DM Sans"/>
                <a:cs typeface="DM Sans"/>
                <a:sym typeface="DM Sans"/>
              </a:rPr>
              <a:t>Ensure real-time functionality for answering queries, crop recommendations, and disease detection.</a:t>
            </a:r>
          </a:p>
          <a:p>
            <a:pPr algn="ctr">
              <a:lnSpc>
                <a:spcPts val="2545"/>
              </a:lnSpc>
            </a:pPr>
          </a:p>
        </p:txBody>
      </p:sp>
      <p:sp>
        <p:nvSpPr>
          <p:cNvPr name="TextBox 32" id="32"/>
          <p:cNvSpPr txBox="true"/>
          <p:nvPr/>
        </p:nvSpPr>
        <p:spPr>
          <a:xfrm rot="0">
            <a:off x="12559138" y="3649901"/>
            <a:ext cx="4672661" cy="999170"/>
          </a:xfrm>
          <a:prstGeom prst="rect">
            <a:avLst/>
          </a:prstGeom>
        </p:spPr>
        <p:txBody>
          <a:bodyPr anchor="t" rtlCol="false" tIns="0" lIns="0" bIns="0" rIns="0">
            <a:spAutoFit/>
          </a:bodyPr>
          <a:lstStyle/>
          <a:p>
            <a:pPr algn="ctr">
              <a:lnSpc>
                <a:spcPts val="4073"/>
              </a:lnSpc>
            </a:pPr>
            <a:r>
              <a:rPr lang="en-US" b="true" sz="2951" spc="289">
                <a:solidFill>
                  <a:srgbClr val="286F17"/>
                </a:solidFill>
                <a:latin typeface="DM Sans Bold"/>
                <a:ea typeface="DM Sans Bold"/>
                <a:cs typeface="DM Sans Bold"/>
                <a:sym typeface="DM Sans Bold"/>
              </a:rPr>
              <a:t>TESTING &amp; DEPLOYMENT:</a:t>
            </a:r>
          </a:p>
        </p:txBody>
      </p:sp>
      <p:sp>
        <p:nvSpPr>
          <p:cNvPr name="Freeform 33" id="33"/>
          <p:cNvSpPr/>
          <p:nvPr/>
        </p:nvSpPr>
        <p:spPr>
          <a:xfrm flipH="false" flipV="false" rot="-10799999">
            <a:off x="-4042099" y="-7251024"/>
            <a:ext cx="7835077" cy="10939025"/>
          </a:xfrm>
          <a:custGeom>
            <a:avLst/>
            <a:gdLst/>
            <a:ahLst/>
            <a:cxnLst/>
            <a:rect r="r" b="b" t="t" l="l"/>
            <a:pathLst>
              <a:path h="10939025" w="7835077">
                <a:moveTo>
                  <a:pt x="0" y="0"/>
                </a:moveTo>
                <a:lnTo>
                  <a:pt x="7835077" y="0"/>
                </a:lnTo>
                <a:lnTo>
                  <a:pt x="7835077" y="10939025"/>
                </a:lnTo>
                <a:lnTo>
                  <a:pt x="0" y="109390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4" id="34"/>
          <p:cNvSpPr txBox="true"/>
          <p:nvPr/>
        </p:nvSpPr>
        <p:spPr>
          <a:xfrm rot="-5400000">
            <a:off x="-3983737" y="4244391"/>
            <a:ext cx="9884362" cy="1882152"/>
          </a:xfrm>
          <a:prstGeom prst="rect">
            <a:avLst/>
          </a:prstGeom>
        </p:spPr>
        <p:txBody>
          <a:bodyPr anchor="t" rtlCol="false" tIns="0" lIns="0" bIns="0" rIns="0">
            <a:spAutoFit/>
          </a:bodyPr>
          <a:lstStyle/>
          <a:p>
            <a:pPr algn="ctr">
              <a:lnSpc>
                <a:spcPts val="15351"/>
              </a:lnSpc>
            </a:pPr>
            <a:r>
              <a:rPr lang="en-US" b="true" sz="11123" spc="1090">
                <a:solidFill>
                  <a:srgbClr val="FFFBFB"/>
                </a:solidFill>
                <a:latin typeface="DM Sans Bold"/>
                <a:ea typeface="DM Sans Bold"/>
                <a:cs typeface="DM Sans Bold"/>
                <a:sym typeface="DM Sans Bold"/>
              </a:rPr>
              <a:t>MODULES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580377">
            <a:off x="10589567" y="-9144424"/>
            <a:ext cx="24036383" cy="24664199"/>
          </a:xfrm>
          <a:custGeom>
            <a:avLst/>
            <a:gdLst/>
            <a:ahLst/>
            <a:cxnLst/>
            <a:rect r="r" b="b" t="t" l="l"/>
            <a:pathLst>
              <a:path h="24664199" w="24036383">
                <a:moveTo>
                  <a:pt x="0" y="0"/>
                </a:moveTo>
                <a:lnTo>
                  <a:pt x="24036382" y="0"/>
                </a:lnTo>
                <a:lnTo>
                  <a:pt x="24036382" y="24664199"/>
                </a:lnTo>
                <a:lnTo>
                  <a:pt x="0" y="246641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01599" y="4073340"/>
            <a:ext cx="6065708" cy="56134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286F17"/>
                </a:solidFill>
                <a:latin typeface="Oswald"/>
                <a:ea typeface="Oswald"/>
                <a:cs typeface="Oswald"/>
                <a:sym typeface="Oswald"/>
              </a:rPr>
              <a:t>System : Pentium i3 Processor.</a:t>
            </a:r>
          </a:p>
          <a:p>
            <a:pPr algn="l" marL="863599" indent="-431800" lvl="1">
              <a:lnSpc>
                <a:spcPts val="5599"/>
              </a:lnSpc>
              <a:buFont typeface="Arial"/>
              <a:buChar char="•"/>
            </a:pPr>
            <a:r>
              <a:rPr lang="en-US" sz="3999">
                <a:solidFill>
                  <a:srgbClr val="286F17"/>
                </a:solidFill>
                <a:latin typeface="Oswald"/>
                <a:ea typeface="Oswald"/>
                <a:cs typeface="Oswald"/>
                <a:sym typeface="Oswald"/>
              </a:rPr>
              <a:t>Hard Disk : 20 GB.</a:t>
            </a:r>
          </a:p>
          <a:p>
            <a:pPr algn="l" marL="863599" indent="-431800" lvl="1">
              <a:lnSpc>
                <a:spcPts val="5599"/>
              </a:lnSpc>
              <a:buFont typeface="Arial"/>
              <a:buChar char="•"/>
            </a:pPr>
            <a:r>
              <a:rPr lang="en-US" sz="3999">
                <a:solidFill>
                  <a:srgbClr val="286F17"/>
                </a:solidFill>
                <a:latin typeface="Oswald"/>
                <a:ea typeface="Oswald"/>
                <a:cs typeface="Oswald"/>
                <a:sym typeface="Oswald"/>
              </a:rPr>
              <a:t>Monitor : 15’’ LED</a:t>
            </a:r>
          </a:p>
          <a:p>
            <a:pPr algn="l" marL="863599" indent="-431800" lvl="1">
              <a:lnSpc>
                <a:spcPts val="5599"/>
              </a:lnSpc>
              <a:buFont typeface="Arial"/>
              <a:buChar char="•"/>
            </a:pPr>
            <a:r>
              <a:rPr lang="en-US" sz="3999">
                <a:solidFill>
                  <a:srgbClr val="286F17"/>
                </a:solidFill>
                <a:latin typeface="Oswald"/>
                <a:ea typeface="Oswald"/>
                <a:cs typeface="Oswald"/>
                <a:sym typeface="Oswald"/>
              </a:rPr>
              <a:t>Input Devices : Keyboard, Mouse</a:t>
            </a:r>
          </a:p>
          <a:p>
            <a:pPr algn="l" marL="863599" indent="-431800" lvl="1">
              <a:lnSpc>
                <a:spcPts val="5599"/>
              </a:lnSpc>
              <a:buFont typeface="Arial"/>
              <a:buChar char="•"/>
            </a:pPr>
            <a:r>
              <a:rPr lang="en-US" sz="3999">
                <a:solidFill>
                  <a:srgbClr val="286F17"/>
                </a:solidFill>
                <a:latin typeface="Oswald"/>
                <a:ea typeface="Oswald"/>
                <a:cs typeface="Oswald"/>
                <a:sym typeface="Oswald"/>
              </a:rPr>
              <a:t>Ram : 4 GB</a:t>
            </a:r>
          </a:p>
          <a:p>
            <a:pPr algn="l" marL="0" indent="0" lvl="0">
              <a:lnSpc>
                <a:spcPts val="5599"/>
              </a:lnSpc>
              <a:spcBef>
                <a:spcPct val="0"/>
              </a:spcBef>
            </a:pPr>
          </a:p>
        </p:txBody>
      </p:sp>
      <p:sp>
        <p:nvSpPr>
          <p:cNvPr name="TextBox 5" id="5"/>
          <p:cNvSpPr txBox="true"/>
          <p:nvPr/>
        </p:nvSpPr>
        <p:spPr>
          <a:xfrm rot="0">
            <a:off x="1028700" y="425999"/>
            <a:ext cx="9351059" cy="3241963"/>
          </a:xfrm>
          <a:prstGeom prst="rect">
            <a:avLst/>
          </a:prstGeom>
        </p:spPr>
        <p:txBody>
          <a:bodyPr anchor="t" rtlCol="false" tIns="0" lIns="0" bIns="0" rIns="0">
            <a:spAutoFit/>
          </a:bodyPr>
          <a:lstStyle/>
          <a:p>
            <a:pPr algn="l">
              <a:lnSpc>
                <a:spcPts val="13015"/>
              </a:lnSpc>
            </a:pPr>
            <a:r>
              <a:rPr lang="en-US" b="true" sz="9431" spc="924">
                <a:solidFill>
                  <a:srgbClr val="286F17"/>
                </a:solidFill>
                <a:latin typeface="Oswald Bold"/>
                <a:ea typeface="Oswald Bold"/>
                <a:cs typeface="Oswald Bold"/>
                <a:sym typeface="Oswald Bold"/>
              </a:rPr>
              <a:t>HARDWARE</a:t>
            </a:r>
          </a:p>
          <a:p>
            <a:pPr algn="l" marL="0" indent="0" lvl="0">
              <a:lnSpc>
                <a:spcPts val="13015"/>
              </a:lnSpc>
              <a:spcBef>
                <a:spcPct val="0"/>
              </a:spcBef>
            </a:pPr>
            <a:r>
              <a:rPr lang="en-US" b="true" sz="9431" spc="924">
                <a:solidFill>
                  <a:srgbClr val="286F17"/>
                </a:solidFill>
                <a:latin typeface="Oswald Bold"/>
                <a:ea typeface="Oswald Bold"/>
                <a:cs typeface="Oswald Bold"/>
                <a:sym typeface="Oswald Bold"/>
              </a:rPr>
              <a:t>REQUIREMENTS</a:t>
            </a:r>
          </a:p>
        </p:txBody>
      </p:sp>
      <p:sp>
        <p:nvSpPr>
          <p:cNvPr name="Freeform 6" id="6"/>
          <p:cNvSpPr/>
          <p:nvPr/>
        </p:nvSpPr>
        <p:spPr>
          <a:xfrm flipH="true" flipV="false" rot="0">
            <a:off x="-4254153" y="7476061"/>
            <a:ext cx="11881594" cy="3564478"/>
          </a:xfrm>
          <a:custGeom>
            <a:avLst/>
            <a:gdLst/>
            <a:ahLst/>
            <a:cxnLst/>
            <a:rect r="r" b="b" t="t" l="l"/>
            <a:pathLst>
              <a:path h="3564478" w="11881594">
                <a:moveTo>
                  <a:pt x="11881594" y="0"/>
                </a:moveTo>
                <a:lnTo>
                  <a:pt x="0" y="0"/>
                </a:lnTo>
                <a:lnTo>
                  <a:pt x="0" y="3564478"/>
                </a:lnTo>
                <a:lnTo>
                  <a:pt x="11881594" y="3564478"/>
                </a:lnTo>
                <a:lnTo>
                  <a:pt x="1188159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580377">
            <a:off x="10589567" y="-9144424"/>
            <a:ext cx="24036383" cy="24664199"/>
          </a:xfrm>
          <a:custGeom>
            <a:avLst/>
            <a:gdLst/>
            <a:ahLst/>
            <a:cxnLst/>
            <a:rect r="r" b="b" t="t" l="l"/>
            <a:pathLst>
              <a:path h="24664199" w="24036383">
                <a:moveTo>
                  <a:pt x="0" y="0"/>
                </a:moveTo>
                <a:lnTo>
                  <a:pt x="24036382" y="0"/>
                </a:lnTo>
                <a:lnTo>
                  <a:pt x="24036382" y="24664199"/>
                </a:lnTo>
                <a:lnTo>
                  <a:pt x="0" y="246641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301599" y="4073340"/>
            <a:ext cx="7555565" cy="4203700"/>
          </a:xfrm>
          <a:prstGeom prst="rect">
            <a:avLst/>
          </a:prstGeom>
        </p:spPr>
        <p:txBody>
          <a:bodyPr anchor="t" rtlCol="false" tIns="0" lIns="0" bIns="0" rIns="0">
            <a:spAutoFit/>
          </a:bodyPr>
          <a:lstStyle/>
          <a:p>
            <a:pPr algn="l" marL="863599" indent="-431800" lvl="1">
              <a:lnSpc>
                <a:spcPts val="5599"/>
              </a:lnSpc>
              <a:buFont typeface="Arial"/>
              <a:buChar char="•"/>
            </a:pPr>
            <a:r>
              <a:rPr lang="en-US" sz="3999">
                <a:solidFill>
                  <a:srgbClr val="286F17"/>
                </a:solidFill>
                <a:latin typeface="Oswald"/>
                <a:ea typeface="Oswald"/>
                <a:cs typeface="Oswald"/>
                <a:sym typeface="Oswald"/>
              </a:rPr>
              <a:t>Operating system : Windows 10 Pro, MAC OS</a:t>
            </a:r>
          </a:p>
          <a:p>
            <a:pPr algn="l" marL="863599" indent="-431800" lvl="1">
              <a:lnSpc>
                <a:spcPts val="5599"/>
              </a:lnSpc>
              <a:buFont typeface="Arial"/>
              <a:buChar char="•"/>
            </a:pPr>
            <a:r>
              <a:rPr lang="en-US" sz="3999">
                <a:solidFill>
                  <a:srgbClr val="286F17"/>
                </a:solidFill>
                <a:latin typeface="Oswald"/>
                <a:ea typeface="Oswald"/>
                <a:cs typeface="Oswald"/>
                <a:sym typeface="Oswald"/>
              </a:rPr>
              <a:t>Coding Language : Python 3.10.9, HTML, CSS,JS</a:t>
            </a:r>
          </a:p>
          <a:p>
            <a:pPr algn="l" marL="863599" indent="-431800" lvl="1">
              <a:lnSpc>
                <a:spcPts val="5599"/>
              </a:lnSpc>
              <a:buFont typeface="Arial"/>
              <a:buChar char="•"/>
            </a:pPr>
            <a:r>
              <a:rPr lang="en-US" sz="3999">
                <a:solidFill>
                  <a:srgbClr val="286F17"/>
                </a:solidFill>
                <a:latin typeface="Oswald"/>
                <a:ea typeface="Oswald"/>
                <a:cs typeface="Oswald"/>
                <a:sym typeface="Oswald"/>
              </a:rPr>
              <a:t>Web Framework : Flask</a:t>
            </a:r>
          </a:p>
          <a:p>
            <a:pPr algn="l" marL="0" indent="0" lvl="0">
              <a:lnSpc>
                <a:spcPts val="5599"/>
              </a:lnSpc>
              <a:spcBef>
                <a:spcPct val="0"/>
              </a:spcBef>
            </a:pPr>
          </a:p>
        </p:txBody>
      </p:sp>
      <p:sp>
        <p:nvSpPr>
          <p:cNvPr name="TextBox 5" id="5"/>
          <p:cNvSpPr txBox="true"/>
          <p:nvPr/>
        </p:nvSpPr>
        <p:spPr>
          <a:xfrm rot="0">
            <a:off x="1028700" y="425999"/>
            <a:ext cx="9351059" cy="3241963"/>
          </a:xfrm>
          <a:prstGeom prst="rect">
            <a:avLst/>
          </a:prstGeom>
        </p:spPr>
        <p:txBody>
          <a:bodyPr anchor="t" rtlCol="false" tIns="0" lIns="0" bIns="0" rIns="0">
            <a:spAutoFit/>
          </a:bodyPr>
          <a:lstStyle/>
          <a:p>
            <a:pPr algn="l">
              <a:lnSpc>
                <a:spcPts val="13015"/>
              </a:lnSpc>
            </a:pPr>
            <a:r>
              <a:rPr lang="en-US" b="true" sz="9431" spc="924">
                <a:solidFill>
                  <a:srgbClr val="286F17"/>
                </a:solidFill>
                <a:latin typeface="Oswald Bold"/>
                <a:ea typeface="Oswald Bold"/>
                <a:cs typeface="Oswald Bold"/>
                <a:sym typeface="Oswald Bold"/>
              </a:rPr>
              <a:t>SOFTWARE</a:t>
            </a:r>
          </a:p>
          <a:p>
            <a:pPr algn="l" marL="0" indent="0" lvl="0">
              <a:lnSpc>
                <a:spcPts val="13015"/>
              </a:lnSpc>
              <a:spcBef>
                <a:spcPct val="0"/>
              </a:spcBef>
            </a:pPr>
            <a:r>
              <a:rPr lang="en-US" b="true" sz="9431" spc="924">
                <a:solidFill>
                  <a:srgbClr val="286F17"/>
                </a:solidFill>
                <a:latin typeface="Oswald Bold"/>
                <a:ea typeface="Oswald Bold"/>
                <a:cs typeface="Oswald Bold"/>
                <a:sym typeface="Oswald Bold"/>
              </a:rPr>
              <a:t>REQUIREMENTS</a:t>
            </a:r>
          </a:p>
        </p:txBody>
      </p:sp>
      <p:sp>
        <p:nvSpPr>
          <p:cNvPr name="Freeform 6" id="6"/>
          <p:cNvSpPr/>
          <p:nvPr/>
        </p:nvSpPr>
        <p:spPr>
          <a:xfrm flipH="true" flipV="false" rot="0">
            <a:off x="-4254153" y="7476061"/>
            <a:ext cx="11881594" cy="3564478"/>
          </a:xfrm>
          <a:custGeom>
            <a:avLst/>
            <a:gdLst/>
            <a:ahLst/>
            <a:cxnLst/>
            <a:rect r="r" b="b" t="t" l="l"/>
            <a:pathLst>
              <a:path h="3564478" w="11881594">
                <a:moveTo>
                  <a:pt x="11881594" y="0"/>
                </a:moveTo>
                <a:lnTo>
                  <a:pt x="0" y="0"/>
                </a:lnTo>
                <a:lnTo>
                  <a:pt x="0" y="3564478"/>
                </a:lnTo>
                <a:lnTo>
                  <a:pt x="11881594" y="3564478"/>
                </a:lnTo>
                <a:lnTo>
                  <a:pt x="1188159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3407869">
            <a:off x="12052165" y="1118883"/>
            <a:ext cx="12471670" cy="5351480"/>
          </a:xfrm>
          <a:custGeom>
            <a:avLst/>
            <a:gdLst/>
            <a:ahLst/>
            <a:cxnLst/>
            <a:rect r="r" b="b" t="t" l="l"/>
            <a:pathLst>
              <a:path h="5351480" w="12471670">
                <a:moveTo>
                  <a:pt x="0" y="0"/>
                </a:moveTo>
                <a:lnTo>
                  <a:pt x="12471670" y="0"/>
                </a:lnTo>
                <a:lnTo>
                  <a:pt x="12471670" y="5351480"/>
                </a:lnTo>
                <a:lnTo>
                  <a:pt x="0" y="5351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919257" y="664311"/>
            <a:ext cx="3592049" cy="8876442"/>
          </a:xfrm>
          <a:custGeom>
            <a:avLst/>
            <a:gdLst/>
            <a:ahLst/>
            <a:cxnLst/>
            <a:rect r="r" b="b" t="t" l="l"/>
            <a:pathLst>
              <a:path h="8876442" w="3592049">
                <a:moveTo>
                  <a:pt x="0" y="0"/>
                </a:moveTo>
                <a:lnTo>
                  <a:pt x="3592049" y="0"/>
                </a:lnTo>
                <a:lnTo>
                  <a:pt x="3592049" y="8876442"/>
                </a:lnTo>
                <a:lnTo>
                  <a:pt x="0" y="8876442"/>
                </a:lnTo>
                <a:lnTo>
                  <a:pt x="0" y="0"/>
                </a:lnTo>
                <a:close/>
              </a:path>
            </a:pathLst>
          </a:custGeom>
          <a:blipFill>
            <a:blip r:embed="rId5"/>
            <a:stretch>
              <a:fillRect l="-135451" t="0" r="-135451" b="0"/>
            </a:stretch>
          </a:blipFill>
        </p:spPr>
      </p:sp>
      <p:sp>
        <p:nvSpPr>
          <p:cNvPr name="Freeform 5" id="5"/>
          <p:cNvSpPr/>
          <p:nvPr/>
        </p:nvSpPr>
        <p:spPr>
          <a:xfrm flipH="false" flipV="false" rot="3407869">
            <a:off x="-4696947" y="10150458"/>
            <a:ext cx="12471670" cy="5351480"/>
          </a:xfrm>
          <a:custGeom>
            <a:avLst/>
            <a:gdLst/>
            <a:ahLst/>
            <a:cxnLst/>
            <a:rect r="r" b="b" t="t" l="l"/>
            <a:pathLst>
              <a:path h="5351480" w="12471670">
                <a:moveTo>
                  <a:pt x="0" y="0"/>
                </a:moveTo>
                <a:lnTo>
                  <a:pt x="12471670" y="0"/>
                </a:lnTo>
                <a:lnTo>
                  <a:pt x="12471670" y="5351480"/>
                </a:lnTo>
                <a:lnTo>
                  <a:pt x="0" y="5351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403838" y="797661"/>
            <a:ext cx="8069336" cy="1303627"/>
          </a:xfrm>
          <a:prstGeom prst="rect">
            <a:avLst/>
          </a:prstGeom>
        </p:spPr>
        <p:txBody>
          <a:bodyPr anchor="t" rtlCol="false" tIns="0" lIns="0" bIns="0" rIns="0">
            <a:spAutoFit/>
          </a:bodyPr>
          <a:lstStyle/>
          <a:p>
            <a:pPr algn="l" marL="0" indent="0" lvl="0">
              <a:lnSpc>
                <a:spcPts val="9903"/>
              </a:lnSpc>
            </a:pPr>
            <a:r>
              <a:rPr lang="en-US" b="true" sz="9431" spc="924">
                <a:solidFill>
                  <a:srgbClr val="286F17"/>
                </a:solidFill>
                <a:latin typeface="Oswald Bold"/>
                <a:ea typeface="Oswald Bold"/>
                <a:cs typeface="Oswald Bold"/>
                <a:sym typeface="Oswald Bold"/>
              </a:rPr>
              <a:t>CONCLUSION</a:t>
            </a:r>
          </a:p>
        </p:txBody>
      </p:sp>
      <p:sp>
        <p:nvSpPr>
          <p:cNvPr name="TextBox 7" id="7"/>
          <p:cNvSpPr txBox="true"/>
          <p:nvPr/>
        </p:nvSpPr>
        <p:spPr>
          <a:xfrm rot="0">
            <a:off x="1028700" y="2332991"/>
            <a:ext cx="12426775" cy="6553581"/>
          </a:xfrm>
          <a:prstGeom prst="rect">
            <a:avLst/>
          </a:prstGeom>
        </p:spPr>
        <p:txBody>
          <a:bodyPr anchor="t" rtlCol="false" tIns="0" lIns="0" bIns="0" rIns="0">
            <a:spAutoFit/>
          </a:bodyPr>
          <a:lstStyle/>
          <a:p>
            <a:pPr algn="l" marL="626111" indent="-313055" lvl="1">
              <a:lnSpc>
                <a:spcPts val="4002"/>
              </a:lnSpc>
              <a:buFont typeface="Arial"/>
              <a:buChar char="•"/>
            </a:pPr>
            <a:r>
              <a:rPr lang="en-US" sz="2900" spc="284">
                <a:solidFill>
                  <a:srgbClr val="286F17"/>
                </a:solidFill>
                <a:latin typeface="DM Sans"/>
                <a:ea typeface="DM Sans"/>
                <a:cs typeface="DM Sans"/>
                <a:sym typeface="DM Sans"/>
              </a:rPr>
              <a:t>The development of an AI-powered chatbot utilizing XGBoost for crop recommendations and ResNet for plant disease prediction represents a significant advancement in supporting farmers with data-driven, real-time insights.</a:t>
            </a:r>
          </a:p>
          <a:p>
            <a:pPr algn="l" marL="626111" indent="-313055" lvl="1">
              <a:lnSpc>
                <a:spcPts val="4002"/>
              </a:lnSpc>
              <a:buFont typeface="Arial"/>
              <a:buChar char="•"/>
            </a:pPr>
            <a:r>
              <a:rPr lang="en-US" sz="2900" spc="284">
                <a:solidFill>
                  <a:srgbClr val="286F17"/>
                </a:solidFill>
                <a:latin typeface="DM Sans"/>
                <a:ea typeface="DM Sans"/>
                <a:cs typeface="DM Sans"/>
                <a:sym typeface="DM Sans"/>
              </a:rPr>
              <a:t> By integrating machine learning algorithms with a user-friendly interface, the system effectively addresses key agricultural challenges such as crop selection based on soil parameters and the early detection of plant diseases</a:t>
            </a:r>
          </a:p>
          <a:p>
            <a:pPr algn="l" marL="626111" indent="-313055" lvl="1">
              <a:lnSpc>
                <a:spcPts val="4002"/>
              </a:lnSpc>
              <a:buFont typeface="Arial"/>
              <a:buChar char="•"/>
            </a:pPr>
            <a:r>
              <a:rPr lang="en-US" sz="2900" spc="284">
                <a:solidFill>
                  <a:srgbClr val="286F17"/>
                </a:solidFill>
                <a:latin typeface="DM Sans"/>
                <a:ea typeface="DM Sans"/>
                <a:cs typeface="DM Sans"/>
                <a:sym typeface="DM Sans"/>
              </a:rPr>
              <a:t>. The chatbot empowers farmers with personalized solutions, enabling them to make informed decisions that enhance productivity, reduce crop losses, and promote sustainable farming practices.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580377">
            <a:off x="16809130" y="-5975521"/>
            <a:ext cx="24036383" cy="24664199"/>
          </a:xfrm>
          <a:custGeom>
            <a:avLst/>
            <a:gdLst/>
            <a:ahLst/>
            <a:cxnLst/>
            <a:rect r="r" b="b" t="t" l="l"/>
            <a:pathLst>
              <a:path h="24664199" w="24036383">
                <a:moveTo>
                  <a:pt x="0" y="0"/>
                </a:moveTo>
                <a:lnTo>
                  <a:pt x="24036383" y="0"/>
                </a:lnTo>
                <a:lnTo>
                  <a:pt x="24036383" y="24664199"/>
                </a:lnTo>
                <a:lnTo>
                  <a:pt x="0" y="246641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561733" y="1990520"/>
            <a:ext cx="15383229" cy="7159132"/>
          </a:xfrm>
          <a:prstGeom prst="rect">
            <a:avLst/>
          </a:prstGeom>
        </p:spPr>
        <p:txBody>
          <a:bodyPr anchor="t" rtlCol="false" tIns="0" lIns="0" bIns="0" rIns="0">
            <a:spAutoFit/>
          </a:bodyPr>
          <a:lstStyle/>
          <a:p>
            <a:pPr algn="l">
              <a:lnSpc>
                <a:spcPts val="4402"/>
              </a:lnSpc>
            </a:pPr>
            <a:r>
              <a:rPr lang="en-US" sz="3144">
                <a:solidFill>
                  <a:srgbClr val="286F17"/>
                </a:solidFill>
                <a:latin typeface="Oswald"/>
                <a:ea typeface="Oswald"/>
                <a:cs typeface="Oswald"/>
                <a:sym typeface="Oswald"/>
              </a:rPr>
              <a:t>[1] Venkata Reddy P S, Dr. Nandini Prasad K S, Dr. Puttamadappa C "SASI: Smart Agriculture System Based on IoT", European Journal of Molecular &amp; Clinical Medicine, ISSN 2515-8260 Volume 07, Issue 08, 2020</a:t>
            </a:r>
          </a:p>
          <a:p>
            <a:pPr algn="l">
              <a:lnSpc>
                <a:spcPts val="4402"/>
              </a:lnSpc>
            </a:pPr>
            <a:r>
              <a:rPr lang="en-US" sz="3144">
                <a:solidFill>
                  <a:srgbClr val="286F17"/>
                </a:solidFill>
                <a:latin typeface="Oswald"/>
                <a:ea typeface="Oswald"/>
                <a:cs typeface="Oswald"/>
                <a:sym typeface="Oswald"/>
              </a:rPr>
              <a:t> [2] J. Vijayalakshmi, K. PandiMeena, “Agriculture TalkBot Using AI”, International Journal of Recent Technology and Engineering (IJRTE) ISSN: 2277 – 3878, Volume-8, Issue-2S5, July 2019. </a:t>
            </a:r>
          </a:p>
          <a:p>
            <a:pPr algn="l">
              <a:lnSpc>
                <a:spcPts val="4402"/>
              </a:lnSpc>
            </a:pPr>
            <a:r>
              <a:rPr lang="en-US" sz="3144">
                <a:solidFill>
                  <a:srgbClr val="286F17"/>
                </a:solidFill>
                <a:latin typeface="Oswald"/>
                <a:ea typeface="Oswald"/>
                <a:cs typeface="Oswald"/>
                <a:sym typeface="Oswald"/>
              </a:rPr>
              <a:t>[3] J. Bang, H. Noh, Y. Kim and G. G. Lee, "Example-based chat oriented dialogue system with personalized long-term memory", 2015 International Conference on Big Data and Smart Computing (BIGCOMP), Jeju, 2015.</a:t>
            </a:r>
          </a:p>
          <a:p>
            <a:pPr algn="l">
              <a:lnSpc>
                <a:spcPts val="4402"/>
              </a:lnSpc>
            </a:pPr>
            <a:r>
              <a:rPr lang="en-US" sz="3144">
                <a:solidFill>
                  <a:srgbClr val="286F17"/>
                </a:solidFill>
                <a:latin typeface="Oswald"/>
                <a:ea typeface="Oswald"/>
                <a:cs typeface="Oswald"/>
                <a:sym typeface="Oswald"/>
              </a:rPr>
              <a:t> [4] E. Haller and T. Rebedea, "Designing a Chat-bot that Simulates an Historical Figure," 2013 19th International Conference on Control Systems and Computer Science, Bucharest, 2013. </a:t>
            </a:r>
          </a:p>
          <a:p>
            <a:pPr algn="l" marL="0" indent="0" lvl="0">
              <a:lnSpc>
                <a:spcPts val="4402"/>
              </a:lnSpc>
              <a:spcBef>
                <a:spcPct val="0"/>
              </a:spcBef>
            </a:pPr>
            <a:r>
              <a:rPr lang="en-US" sz="3144">
                <a:solidFill>
                  <a:srgbClr val="286F17"/>
                </a:solidFill>
                <a:latin typeface="Oswald"/>
                <a:ea typeface="Oswald"/>
                <a:cs typeface="Oswald"/>
                <a:sym typeface="Oswald"/>
              </a:rPr>
              <a:t>[5] P. Srivastava and N. Singh, "Automatized Medical Chatbot (Medibot)," 2020 International Conference on Power Electronics &amp; IoT Applications in Renewable Energy and its Control (PARC), Mathura, India, 2020, pp. 351-354, doi: 10.1109/PARC49193.2020.236624.</a:t>
            </a:r>
          </a:p>
        </p:txBody>
      </p:sp>
      <p:sp>
        <p:nvSpPr>
          <p:cNvPr name="TextBox 5" id="5"/>
          <p:cNvSpPr txBox="true"/>
          <p:nvPr/>
        </p:nvSpPr>
        <p:spPr>
          <a:xfrm rot="0">
            <a:off x="1561733" y="355053"/>
            <a:ext cx="8097687" cy="1594138"/>
          </a:xfrm>
          <a:prstGeom prst="rect">
            <a:avLst/>
          </a:prstGeom>
        </p:spPr>
        <p:txBody>
          <a:bodyPr anchor="t" rtlCol="false" tIns="0" lIns="0" bIns="0" rIns="0">
            <a:spAutoFit/>
          </a:bodyPr>
          <a:lstStyle/>
          <a:p>
            <a:pPr algn="l" marL="0" indent="0" lvl="0">
              <a:lnSpc>
                <a:spcPts val="13015"/>
              </a:lnSpc>
              <a:spcBef>
                <a:spcPct val="0"/>
              </a:spcBef>
            </a:pPr>
            <a:r>
              <a:rPr lang="en-US" b="true" sz="9431" spc="924">
                <a:solidFill>
                  <a:srgbClr val="286F17"/>
                </a:solidFill>
                <a:latin typeface="Oswald Bold"/>
                <a:ea typeface="Oswald Bold"/>
                <a:cs typeface="Oswald Bold"/>
                <a:sym typeface="Oswald Bold"/>
              </a:rPr>
              <a:t>REFERENCE</a:t>
            </a:r>
          </a:p>
        </p:txBody>
      </p:sp>
      <p:sp>
        <p:nvSpPr>
          <p:cNvPr name="Freeform 6" id="6"/>
          <p:cNvSpPr/>
          <p:nvPr/>
        </p:nvSpPr>
        <p:spPr>
          <a:xfrm flipH="true" flipV="false" rot="0">
            <a:off x="-4254153" y="7476061"/>
            <a:ext cx="11881594" cy="3564478"/>
          </a:xfrm>
          <a:custGeom>
            <a:avLst/>
            <a:gdLst/>
            <a:ahLst/>
            <a:cxnLst/>
            <a:rect r="r" b="b" t="t" l="l"/>
            <a:pathLst>
              <a:path h="3564478" w="11881594">
                <a:moveTo>
                  <a:pt x="11881594" y="0"/>
                </a:moveTo>
                <a:lnTo>
                  <a:pt x="0" y="0"/>
                </a:lnTo>
                <a:lnTo>
                  <a:pt x="0" y="3564478"/>
                </a:lnTo>
                <a:lnTo>
                  <a:pt x="11881594" y="3564478"/>
                </a:lnTo>
                <a:lnTo>
                  <a:pt x="1188159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DAGOSlwBkr4</dc:identifier>
  <dcterms:modified xsi:type="dcterms:W3CDTF">2011-08-01T06:04:30Z</dcterms:modified>
  <cp:revision>1</cp:revision>
  <dc:title>AgriBot PPT</dc:title>
</cp:coreProperties>
</file>